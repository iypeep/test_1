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7" r:id="rId4"/>
    <p:sldId id="265" r:id="rId5"/>
    <p:sldId id="259" r:id="rId6"/>
    <p:sldId id="260" r:id="rId7"/>
    <p:sldId id="266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封面。这一版按你重排后的 6 条要求组织：R1 放置方式（3D）、R2 模组类型（手册对比）、R3 距离、R4 增益、R5 厂家、R6 箱型。关键前提说清楚：除 R1/R2 是已确定内容，R3–R6 的数值都是手册参数推算 + 模型预测，明天实测替换。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R6。六个箱型用项目代号。塑料背壳两类都 6/6；金属背壳直接掉到 0.8–4.4；平板类比 Kinder 略好但同样救不回来。若产线要上金属背壳，改贴标位置或在开口侧加天线。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92760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112010"/>
            <a:ext cx="84124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 b="0" dirty="0" err="1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</a:t>
            </a:r>
            <a:r>
              <a:rPr sz="1200" b="0" dirty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  7H3AA-PALLET     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0968" y="525074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00" b="0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正面定义为防爆标签面</a:t>
            </a:r>
            <a:endParaRPr sz="1100" b="0" dirty="0">
              <a:solidFill>
                <a:srgbClr val="8C8C8C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4_3d_plac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861059"/>
            <a:ext cx="7982664" cy="509775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10506"/>
              </p:ext>
            </p:extLst>
          </p:nvPr>
        </p:nvGraphicFramePr>
        <p:xfrm>
          <a:off x="8613648" y="2222514"/>
          <a:ext cx="3008376" cy="2688336"/>
        </p:xfrm>
        <a:graphic>
          <a:graphicData uri="http://schemas.openxmlformats.org/drawingml/2006/table">
            <a:tbl>
              <a:tblPr/>
              <a:tblGrid>
                <a:gridCol w="544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顶面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正面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背面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S-LEFT 左侧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S-RIGHT </a:t>
                      </a:r>
                      <a:r>
                        <a:rPr sz="90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</a:t>
                      </a:r>
                      <a:endParaRPr sz="90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fig5_3d_distance.png">
            <a:extLst>
              <a:ext uri="{FF2B5EF4-FFF2-40B4-BE49-F238E27FC236}">
                <a16:creationId xmlns:a16="http://schemas.microsoft.com/office/drawing/2014/main" id="{0BA2731C-A280-48F1-BE56-472F687A7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8882"/>
            <a:ext cx="5806440" cy="2083522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9D9FE3E6-A546-4E4F-8058-30D09BEC6FEB}"/>
              </a:ext>
            </a:extLst>
          </p:cNvPr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702756A2-B9C2-4F70-8026-CE4F608837EC}"/>
              </a:ext>
            </a:extLst>
          </p:cNvPr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1CC6D7C4-3274-43DC-8ABC-A120C7ABA2D2}"/>
              </a:ext>
            </a:extLst>
          </p:cNvPr>
          <p:cNvSpPr txBox="1"/>
          <p:nvPr/>
        </p:nvSpPr>
        <p:spPr>
          <a:xfrm>
            <a:off x="566928" y="1139066"/>
            <a:ext cx="110578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机台</a:t>
            </a:r>
            <a:r>
              <a:rPr lang="en-US" altLang="zh-CN" sz="160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RFID</a:t>
            </a:r>
            <a:r>
              <a:rPr lang="zh-CN" altLang="en-US" sz="160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布置方式</a:t>
            </a:r>
            <a:r>
              <a:rPr lang="en-US" altLang="zh-CN" sz="160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—3*RFID</a:t>
            </a:r>
            <a:r>
              <a:rPr lang="zh-CN" altLang="en-US" sz="160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</a:t>
            </a:r>
            <a:endParaRPr sz="1600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7" name="S3_cap"/>
          <p:cNvSpPr txBox="1"/>
          <p:nvPr/>
        </p:nvSpPr>
        <p:spPr>
          <a:xfrm>
            <a:off x="566928" y="3675887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实测样例：readStatus=True 的箱（10-22 机台日志，逐箱一条）</a:t>
            </a:r>
          </a:p>
        </p:txBody>
      </p:sp>
      <p:graphicFrame>
        <p:nvGraphicFramePr>
          <p:cNvPr id="8" name="S3_samples"/>
          <p:cNvGraphicFramePr>
            <a:graphicFrameLocks noGrp="1"/>
          </p:cNvGraphicFramePr>
          <p:nvPr/>
        </p:nvGraphicFramePr>
        <p:xfrm>
          <a:off x="566928" y="3950207"/>
          <a:ext cx="5760716" cy="1536192"/>
        </p:xfrm>
        <a:graphic>
          <a:graphicData uri="http://schemas.openxmlformats.org/drawingml/2006/table">
            <a:tbl>
              <a:tblPr/>
              <a:tblGrid>
                <a:gridCol w="75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1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时间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机型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读到个数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耗时 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读到标签（SN 打码）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04:19:57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GN46HP01…03RN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04:20:53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GN46HP01…01DR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04:22:18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GN46HP01…027E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04:25:15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GN46HP01…03QL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04:28:26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18.9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GN46HP01…0460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3_note"/>
          <p:cNvSpPr txBox="1"/>
          <p:nvPr/>
        </p:nvSpPr>
        <p:spPr>
          <a:xfrm>
            <a:off x="566928" y="5541264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口径：readStatus=True＝该箱 RFID 环节判定成功；读到 1 个标签即计入。SN 末段打码，数值未修改。</a:t>
            </a:r>
          </a:p>
        </p:txBody>
      </p:sp>
      <p:sp>
        <p:nvSpPr>
          <p:cNvPr id="10" name="S3_boxtitle"/>
          <p:cNvSpPr txBox="1"/>
          <p:nvPr/>
        </p:nvSpPr>
        <p:spPr>
          <a:xfrm>
            <a:off x="6537960" y="1298448"/>
            <a:ext cx="50840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中箱读取测试（2026-10-19）· 实验对象：AX7907A 金属背板 Kinder（原报告称大/小平板）</a:t>
            </a:r>
          </a:p>
        </p:txBody>
      </p:sp>
      <p:graphicFrame>
        <p:nvGraphicFramePr>
          <p:cNvPr id="11" name="S3_boxtable"/>
          <p:cNvGraphicFramePr>
            <a:graphicFrameLocks noGrp="1"/>
          </p:cNvGraphicFramePr>
          <p:nvPr/>
        </p:nvGraphicFramePr>
        <p:xfrm>
          <a:off x="6537960" y="1591056"/>
          <a:ext cx="5084063" cy="1554480"/>
        </p:xfrm>
        <a:graphic>
          <a:graphicData uri="http://schemas.openxmlformats.org/drawingml/2006/table">
            <a:tbl>
              <a:tblPr/>
              <a:tblGrid>
                <a:gridCol w="1884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朝下面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前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后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大平板（4 次，单次最多 1 个）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–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–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小平板（4 次，单次最多 2 个）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–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–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合计（8 次试验）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目标（整箱）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3_boxtext"/>
          <p:cNvSpPr txBox="1"/>
          <p:nvPr/>
        </p:nvSpPr>
        <p:spPr>
          <a:xfrm>
            <a:off x="6537960" y="3310128"/>
            <a:ext cx="5084064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现象</a:t>
            </a:r>
          </a:p>
          <a:p>
            <a:pPr>
              <a:lnSpc>
                <a:spcPct val="118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单次最多只读到 2 个（目标 6 个）；其余大多 1 个，不少姿态为 0。</a:t>
            </a:r>
          </a:p>
          <a:p>
            <a:pPr>
              <a:lnSpc>
                <a:spcPct val="118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姿态差异明显：上/下作底面各有 5 处记录读到，左/右各 2 处，前 1 处、后 0 处。</a:t>
            </a:r>
          </a:p>
          <a:p>
            <a:pPr>
              <a:lnSpc>
                <a:spcPct val="118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大平板比小平板更差：大平板单次最多 1 个，小平板最多 2 个。</a:t>
            </a:r>
          </a:p>
          <a:p>
            <a:pPr>
              <a:lnSpc>
                <a:spcPct val="118000"/>
              </a:lnSpc>
            </a:pPr>
            <a:r>
              <a:rPr sz="95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结论与建议</a:t>
            </a:r>
          </a:p>
          <a:p>
            <a:pPr>
              <a:lnSpc>
                <a:spcPct val="118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平板是金属件，屏蔽 + 相互遮挡 ⇒ 现有「底面＋侧面＋顶面」三面布置无法整箱读全。</a:t>
            </a:r>
          </a:p>
          <a:p>
            <a:pPr>
              <a:lnSpc>
                <a:spcPct val="118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· 若继续推进：姿态固定上/下朝下，并做抗金属标签 / 天线布局 / 功率专项；否则改开箱或逐件读取。</a:t>
            </a:r>
          </a:p>
        </p:txBody>
      </p:sp>
      <p:sp>
        <p:nvSpPr>
          <p:cNvPr id="13" name="S3_source"/>
          <p:cNvSpPr txBox="1"/>
          <p:nvPr/>
        </p:nvSpPr>
        <p:spPr>
          <a:xfrm>
            <a:off x="6537960" y="5285232"/>
            <a:ext cx="508406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来源：RFID中箱读取测试报告_20261019.pdf（2026-10-19）。表格数字＝该姿态下一次试验读出的平板数，「–」＝该次未读到；合计＝8 次试验中读到 ≥1 个的次数。</a:t>
            </a:r>
          </a:p>
        </p:txBody>
      </p:sp>
      <p:sp>
        <p:nvSpPr>
          <p:cNvPr id="14" name="S3_bar"/>
          <p:cNvSpPr/>
          <p:nvPr/>
        </p:nvSpPr>
        <p:spPr>
          <a:xfrm>
            <a:off x="566928" y="6053328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3_take"/>
          <p:cNvSpPr txBox="1"/>
          <p:nvPr/>
        </p:nvSpPr>
        <p:spPr>
          <a:xfrm>
            <a:off x="713232" y="6062472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两次实验指向同一件事：读不全不是「角度没摆对」，而是金属负载 + 标签离天线的距离；先修读不到，再谈布置。</a:t>
            </a:r>
          </a:p>
        </p:txBody>
      </p:sp>
    </p:spTree>
    <p:extLst>
      <p:ext uri="{BB962C8B-B14F-4D97-AF65-F5344CB8AC3E}">
        <p14:creationId xmlns:p14="http://schemas.microsoft.com/office/powerpoint/2010/main" val="21167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</a:t>
            </a:r>
            <a:r>
              <a:rPr lang="en-US" altLang="zh-CN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log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统计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51275"/>
              </p:ext>
            </p:extLst>
          </p:nvPr>
        </p:nvGraphicFramePr>
        <p:xfrm>
          <a:off x="566927" y="1353311"/>
          <a:ext cx="9579963" cy="2432108"/>
        </p:xfrm>
        <a:graphic>
          <a:graphicData uri="http://schemas.openxmlformats.org/drawingml/2006/table">
            <a:tbl>
              <a:tblPr/>
              <a:tblGrid>
                <a:gridCol w="1110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78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4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投入</a:t>
                      </a:r>
                      <a:r>
                        <a:rPr sz="84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</a:t>
                      </a:r>
                      <a:endParaRPr sz="840" b="1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</a:t>
                      </a:r>
                      <a:r>
                        <a:rPr sz="84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0.01%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2.12%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Roselite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Turquoise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" name="Picture 16" descr="fig13_prod_readout.png">
            <a:extLst>
              <a:ext uri="{FF2B5EF4-FFF2-40B4-BE49-F238E27FC236}">
                <a16:creationId xmlns:a16="http://schemas.microsoft.com/office/drawing/2014/main" id="{5E32B846-4979-43AF-9892-00E9480A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27" y="3886011"/>
            <a:ext cx="8272273" cy="2783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152" y="517229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altLang="en-US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一次过板全部读到，不能靠重复过板补读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" y="704314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4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5_sub"/>
          <p:cNvSpPr txBox="1"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判据＝一次过板读全 6 台；下表 7 款候选，只有 3 款拿到公开产品图 / 手册图（①②③），其余参数只能引手册</a:t>
            </a:r>
          </a:p>
        </p:txBody>
      </p:sp>
      <p:graphicFrame>
        <p:nvGraphicFramePr>
          <p:cNvPr id="9" name="S5_table"/>
          <p:cNvGraphicFramePr>
            <a:graphicFrameLocks noGrp="1"/>
          </p:cNvGraphicFramePr>
          <p:nvPr/>
        </p:nvGraphicFramePr>
        <p:xfrm>
          <a:off x="566928" y="1078992"/>
          <a:ext cx="7635237" cy="2926080"/>
        </p:xfrm>
        <a:graphic>
          <a:graphicData uri="http://schemas.openxmlformats.org/drawingml/2006/table">
            <a:tbl>
              <a:tblPr/>
              <a:tblGrid>
                <a:gridCol w="234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· 功率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图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Impinj R700（工业读头）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−92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首选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Impinj R420（工业读头）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−84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RodinBell M-703（E710）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覆盖好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①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Zebra FX9600（一体机）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 PoE+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−86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Kathrein RRU 4560 / 4xxx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30/33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②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ThingMagic M6e（模块）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模块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○ 需实测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Silion SQM5100（QM100）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模块 · 需外置 PA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▲ 先整机实测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③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S5_strip" descr="hw_strip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078992"/>
            <a:ext cx="312869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206240"/>
            <a:ext cx="76352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8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选型不能只看功率</a:t>
            </a:r>
          </a:p>
          <a:p>
            <a:pPr>
              <a:lnSpc>
                <a:spcPct val="122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读全判据：6 个标签 ×≥2 次盘存 ÷ 0.5 s ≥ 24 tags/s；手册 tags/s 是理想值，箱内按 7 折估。</a:t>
            </a:r>
          </a:p>
          <a:p>
            <a:pPr>
              <a:lnSpc>
                <a:spcPct val="122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国产 QM100 类片内 PA 仅 4 dBm，整机 30 dBm 靠外置功放 —— 只能按整机实测比，不能拿芯片指标比。</a:t>
            </a:r>
          </a:p>
          <a:p>
            <a:pPr>
              <a:lnSpc>
                <a:spcPct val="122000"/>
              </a:lnSpc>
            </a:pPr>
            <a:r>
              <a:rPr sz="88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▲ 与 R3 标定一致：现网三面天线已贴到 &lt;5 cm，实测仍只有 0.08/6 ⇒ 换模块的收益必须先实测验证，否则换了也读不全（瓶颈更可能在标签朝向/金属屏蔽/读码窗口）。</a:t>
            </a:r>
          </a:p>
          <a:p>
            <a:pPr>
              <a:lnSpc>
                <a:spcPct val="122000"/>
              </a:lnSpc>
            </a:pPr>
            <a:r>
              <a:rPr sz="76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手册出处：Kathrein RRU 4000 系列 datasheet（背板 ANT1–4）；RodinBell M-703 / E710 产品页；Silion SQM5100（RFID-CM100）装置图；Impinj Fixed Reader Portfolio、Zebra FX9600 Spec Sheet（无公开产品图）。</a:t>
            </a:r>
          </a:p>
        </p:txBody>
      </p:sp>
      <p:sp>
        <p:nvSpPr>
          <p:cNvPr id="12" name="S5_bar"/>
          <p:cNvSpPr/>
          <p:nvPr/>
        </p:nvSpPr>
        <p:spPr>
          <a:xfrm>
            <a:off x="566928" y="6035040"/>
            <a:ext cx="45720" cy="274320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5_take"/>
          <p:cNvSpPr txBox="1"/>
          <p:nvPr/>
        </p:nvSpPr>
        <p:spPr>
          <a:xfrm>
            <a:off x="713232" y="6044184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选型顺序：先按「天线口数/覆盖 + 灵敏度」筛，再按「整机实测 tags/s」定；R700 / R420 / M-703 为第一梯队，国产模块先做整机验证。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R3：读到几个与距离没有相关性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87553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6_stat0_5"/>
          <p:cNvSpPr txBox="1"/>
          <p:nvPr/>
        </p:nvSpPr>
        <p:spPr>
          <a:xfrm>
            <a:off x="566928" y="1280160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7" name="S6_stat0_6"/>
          <p:cNvSpPr txBox="1"/>
          <p:nvPr/>
        </p:nvSpPr>
        <p:spPr>
          <a:xfrm>
            <a:off x="566928" y="1645919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理论（下置 9 dBi）：0–10 cm 应读全</a:t>
            </a:r>
          </a:p>
        </p:txBody>
      </p:sp>
      <p:sp>
        <p:nvSpPr>
          <p:cNvPr id="8" name="S6_stat0_7"/>
          <p:cNvSpPr txBox="1"/>
          <p:nvPr/>
        </p:nvSpPr>
        <p:spPr>
          <a:xfrm>
            <a:off x="566928" y="184708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按手册参数，近距本来就该读得到</a:t>
            </a:r>
            <a:endParaRPr sz="919" b="0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S6_stat1_8"/>
          <p:cNvSpPr txBox="1"/>
          <p:nvPr/>
        </p:nvSpPr>
        <p:spPr>
          <a:xfrm>
            <a:off x="3566160" y="1280160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0.08 / 6</a:t>
            </a:r>
          </a:p>
        </p:txBody>
      </p:sp>
      <p:sp>
        <p:nvSpPr>
          <p:cNvPr id="10" name="S6_stat1_9"/>
          <p:cNvSpPr txBox="1"/>
          <p:nvPr/>
        </p:nvSpPr>
        <p:spPr>
          <a:xfrm>
            <a:off x="3566160" y="1645919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实测（产线 3 天线 &lt;5 cm，31 天 113,667 箱）</a:t>
            </a:r>
          </a:p>
        </p:txBody>
      </p:sp>
      <p:sp>
        <p:nvSpPr>
          <p:cNvPr id="11" name="S6_stat1_0"/>
          <p:cNvSpPr txBox="1"/>
          <p:nvPr/>
        </p:nvSpPr>
        <p:spPr>
          <a:xfrm>
            <a:off x="3566160" y="1847088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95.0% 一箱读到 0 个；10-19 接触式也只有 0–2</a:t>
            </a:r>
          </a:p>
        </p:txBody>
      </p:sp>
      <p:sp>
        <p:nvSpPr>
          <p:cNvPr id="12" name="S6_cap"/>
          <p:cNvSpPr txBox="1"/>
          <p:nvPr/>
        </p:nvSpPr>
        <p:spPr>
          <a:xfrm>
            <a:off x="566928" y="2542032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同一台读码器：理论该读到多少 vs 实际读到多少</a:t>
            </a:r>
          </a:p>
        </p:txBody>
      </p:sp>
      <p:graphicFrame>
        <p:nvGraphicFramePr>
          <p:cNvPr id="13" name="S6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182952"/>
              </p:ext>
            </p:extLst>
          </p:nvPr>
        </p:nvGraphicFramePr>
        <p:xfrm>
          <a:off x="566928" y="2798064"/>
          <a:ext cx="5943600" cy="211226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距离 cm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理论</a:t>
                      </a:r>
                      <a:r>
                        <a:rPr sz="83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</a:t>
                      </a:r>
                      <a:r>
                        <a:rPr sz="83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 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实测 读全 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差值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0（贴住）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0–2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−4 ~ −6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0.08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−5.9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  <a:endParaRPr sz="86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5.89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  <a:endParaRPr sz="86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4.56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  <a:endParaRPr sz="86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1.89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  <a:endParaRPr sz="86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6_concl"/>
          <p:cNvSpPr txBox="1"/>
          <p:nvPr/>
        </p:nvSpPr>
        <p:spPr>
          <a:xfrm>
            <a:off x="566928" y="5029200"/>
            <a:ext cx="5943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8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结论：读到数量与距离无相关（相关性≈0）</a:t>
            </a:r>
          </a:p>
          <a:p>
            <a:pPr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近距（贴住、&lt;5 cm）并不比远距好；反过来说，把距离压得更近、或加大功率，都换不来读数。</a:t>
            </a:r>
          </a:p>
          <a:p>
            <a:pPr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损失发生在距离之外：箱内金属件屏蔽与相互遮挡、标签朝向/极化、过板窗口与程序判定口径。10–40 cm 的逐档实测仍缺（A/B 组），但现有三处观测已足以排除“距离不够近”这一解释。</a:t>
            </a:r>
          </a:p>
        </p:txBody>
      </p:sp>
      <p:pic>
        <p:nvPicPr>
          <p:cNvPr id="15" name="S6_fig" descr="fig7c_distance_vs_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5486400" cy="2631989"/>
          </a:xfrm>
          <a:prstGeom prst="rect">
            <a:avLst/>
          </a:prstGeom>
        </p:spPr>
      </p:pic>
      <p:sp>
        <p:nvSpPr>
          <p:cNvPr id="16" name="S6_figcap"/>
          <p:cNvSpPr txBox="1"/>
          <p:nvPr/>
        </p:nvSpPr>
        <p:spPr>
          <a:xfrm>
            <a:off x="6446520" y="416052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灰虚线＝手册模型（未改动，随距离正常衰减）；红色＝实测（0.08/6 与 0–2/6）；灰底＝尚未逐档实测的 10–40 cm。</a:t>
            </a:r>
          </a:p>
        </p:txBody>
      </p:sp>
      <p:sp>
        <p:nvSpPr>
          <p:cNvPr id="17" name="S6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6_take"/>
          <p:cNvSpPr txBox="1"/>
          <p:nvPr/>
        </p:nvSpPr>
        <p:spPr>
          <a:xfrm>
            <a:off x="713232" y="6025896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别再拿「压距离 / 加功率」当主线：0→40 cm 读数不变，要动的是金属屏蔽、标签朝向与读码窗口。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DADCA6-5042-431B-9760-4842AD24C2D1}"/>
              </a:ext>
            </a:extLst>
          </p:cNvPr>
          <p:cNvSpPr txBox="1"/>
          <p:nvPr/>
        </p:nvSpPr>
        <p:spPr>
          <a:xfrm>
            <a:off x="971550" y="2828835"/>
            <a:ext cx="1002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Back Up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6677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 + R5：不同读码器（9 / 6 </a:t>
            </a: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dBi）与不同厂家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同一箱型（7907-P）、同一姿态（A1 下置）、同一距离档位；只改一个变量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6_3d_rea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6144768" cy="2003210"/>
          </a:xfrm>
          <a:prstGeom prst="rect">
            <a:avLst/>
          </a:prstGeom>
        </p:spPr>
      </p:pic>
      <p:pic>
        <p:nvPicPr>
          <p:cNvPr id="9" name="Picture 8" descr="fig12_pass_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389888"/>
            <a:ext cx="4809744" cy="22545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474720"/>
            <a:ext cx="5870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3D 对比配置（示意模型，按公开尺寸比例建模）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663446"/>
              </p:ext>
            </p:extLst>
          </p:nvPr>
        </p:nvGraphicFramePr>
        <p:xfrm>
          <a:off x="566928" y="4023360"/>
          <a:ext cx="5870446" cy="1097280"/>
        </p:xfrm>
        <a:graphic>
          <a:graphicData uri="http://schemas.openxmlformats.org/drawingml/2006/table">
            <a:tbl>
              <a:tblPr/>
              <a:tblGrid>
                <a:gridCol w="124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配置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 读全/6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 读全/6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0.5 s 过板 6/6（20 cm）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 厂 + 9 </a:t>
                      </a:r>
                      <a:r>
                        <a:rPr sz="88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dBi</a:t>
                      </a:r>
                      <a:endParaRPr sz="880" b="1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5.22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99.0%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推荐基线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 厂 + </a:t>
                      </a:r>
                      <a:r>
                        <a:rPr lang="en-US"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  <a:r>
                        <a:rPr sz="880" b="1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 </a:t>
                      </a:r>
                      <a:r>
                        <a:rPr sz="880" b="1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dBi</a:t>
                      </a:r>
                      <a:endParaRPr sz="880" b="1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3.44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82.7%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dirty="0" err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勉强</a:t>
                      </a:r>
                      <a:endParaRPr sz="88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12280" y="3703320"/>
            <a:ext cx="4809744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按“过板一次读全”看</a:t>
            </a:r>
            <a:endParaRPr sz="10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0.5 s 窗口、20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cm：只有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A 厂 + 9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dBi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达到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99%，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其余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79% / 83% / 19%。</a:t>
            </a:r>
          </a:p>
          <a:p>
            <a:pPr>
              <a:lnSpc>
                <a:spcPct val="130000"/>
              </a:lnSpc>
            </a:pP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30 cm 时 A 厂 + 9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dBi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掉到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68.9%，B 厂 + 9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dBi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只有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 10.2% —— </a:t>
            </a:r>
            <a:r>
              <a:rPr sz="950" b="0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远档靠天线增益，不靠厂家</a:t>
            </a:r>
            <a:r>
              <a:rPr sz="950" b="0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。</a:t>
            </a:r>
          </a:p>
          <a:p>
            <a:pPr>
              <a:lnSpc>
                <a:spcPct val="130000"/>
              </a:lnSpc>
            </a:pPr>
            <a:r>
              <a:rPr sz="950" b="1" dirty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⇒ </a:t>
            </a:r>
            <a:r>
              <a:rPr sz="950" b="1" dirty="0" err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选型结论：A</a:t>
            </a:r>
            <a:r>
              <a:rPr sz="950" b="1" dirty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 厂 + 9 </a:t>
            </a:r>
            <a:r>
              <a:rPr sz="950" b="1" dirty="0" err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dBi</a:t>
            </a:r>
            <a:r>
              <a:rPr sz="950" b="1" dirty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950" b="1" dirty="0" err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作基线；换厂家最多补</a:t>
            </a:r>
            <a:r>
              <a:rPr sz="950" b="1" dirty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 2 </a:t>
            </a:r>
            <a:r>
              <a:rPr sz="950" b="1" dirty="0" err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dB，救不回远档</a:t>
            </a:r>
            <a:r>
              <a:rPr sz="950" b="1" dirty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以「0.5 s 过板 6/6」为准：A 厂 + 9 dBi 99%，A 厂 + 6 dBi 79%，B 厂 + 6 dBi 仅 19%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R6：同一读码器(9 </a:t>
            </a: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dBi</a:t>
            </a: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) × </a:t>
            </a: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六种箱型（按机型口径</a:t>
            </a: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代号＝HQ代码-背壳（客户代码见 P10）；距离 10 cm、姿态 A1、厂家 A —— 只有箱型不同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7 / 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0560"/>
              </p:ext>
            </p:extLst>
          </p:nvPr>
        </p:nvGraphicFramePr>
        <p:xfrm>
          <a:off x="6903720" y="1335024"/>
          <a:ext cx="4718304" cy="256032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7771-M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 · 8″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7513-M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 · 11″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50" b="0" dirty="0">
                        <a:solidFill>
                          <a:srgbClr val="1A1A1A"/>
                        </a:solidFill>
                        <a:latin typeface="Arial"/>
                        <a:ea typeface="微软雅黑"/>
                        <a:cs typeface="Arial"/>
                      </a:endParaRP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03720" y="4041648"/>
            <a:ext cx="4718304" cy="148132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9168" y="4133087"/>
            <a:ext cx="44348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塑料背壳（7907-P / 8252-P）稳定读全，尺寸影响可忽略。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金属背壳把读全数打到 0.8–4.4，大件更差 ⇒ 背壳材质是分水岭，不是距离。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平板类（7771/7513）优于 e-reader（形体薄、遮挡少），但都无法在金属背壳下读全。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若产线要上金属背壳机型：要么改贴标位置（避开金属面），要么在箱外/开口侧增设天线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1533</Words>
  <Application>Microsoft Office PowerPoint</Application>
  <PresentationFormat>宽屏</PresentationFormat>
  <Paragraphs>311</Paragraphs>
  <Slides>9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唐博知</dc:creator>
  <cp:keywords/>
  <dc:description>generated using python-pptx</dc:description>
  <cp:lastModifiedBy>唐博知</cp:lastModifiedBy>
  <cp:revision>10</cp:revision>
  <dcterms:created xsi:type="dcterms:W3CDTF">2013-01-27T09:14:16Z</dcterms:created>
  <dcterms:modified xsi:type="dcterms:W3CDTF">2026-10-22T13:20:11Z</dcterms:modified>
  <cp:category/>
</cp:coreProperties>
</file>