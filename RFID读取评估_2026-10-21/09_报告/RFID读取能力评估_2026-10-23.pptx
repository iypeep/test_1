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0" r:id="rId18"/>
    <p:sldId id="258" r:id="rId3"/>
    <p:sldId id="267" r:id="rId4"/>
    <p:sldId id="265" r:id="rId5"/>
    <p:sldId id="262" r:id="rId11"/>
    <p:sldId id="259" r:id="rId6"/>
    <p:sldId id="269" r:id="rId7"/>
    <p:sldId id="260" r:id="rId8"/>
    <p:sldId id="261" r:id="rId9"/>
    <p:sldId id="266" r:id="rId10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7" d="100"/>
          <a:sy n="127" d="100"/>
        </p:scale>
        <p:origin x="627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5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92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封面。按 6 条要求组织：R1 放置方式（3D）、R2 模组选型、R3 距离、R4 增益、R5 厂家、R6 箱型。口径先说清楚：现网基线是实测（31 天 113,667 箱：95.0% 一箱 0 个、读全 6 个 0.14%）；R4–R6 的数值是同一模型下的相对比较，只用于排序，绝对值以现场实测替换。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R1。六种姿态用 Blender 渲染，蓝锥是天线主波束。要点：正面/背面同为长×高，靠防爆标识与条码面区分；A1 是本线实际姿态，其余作为对照。标签在箱内，箱面只有条码与序列号 —— 这句话能挡住“为什么不读箱面标签”的追问。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机型口径页。旧的 Kinder 与 KD/PT 代号是早期猜测，机台日志里根本没有，今天作废。改成 HQ代码-背壳：7907-P/M、8252-P/M、7771-M、7513-M；客户代码按事业部对照表，MES 配置名可交叉验证。背壳材质有直接证据：CongfigSize 里写 (Metal)/(Plastic)，AX8252 两种都在产，所以同机型要分开看。AX6727 那行数字明显异常，先记录，不建议当结论。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R2。产品图来自厂家页面/datasheet，参数照抄手册：R700 33 dBm/4 口、R420 32.5 dBm/−84 dBm、M-703 8 口 900 tags/s、M6e 750 tags/s、FX9600 33 dBm/−86 dBm、RRU 4560 33 dBm、SQM5100（QM100）−79 dBm 需外置 PA。提醒：国产方案片内 PA 只有 4 dBm，整机功率靠外置功放，必须实测。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R3。距离是主要变量：0–10 cm 稳读全，20 cm 起掉，50 cm 只剩 1.9/6。为什么手册说 8–14 m 而这里只有 cm 级：箱壁+塑料背壳+极化失配吃掉 25–30 dB，读距除以 18–31。侧面照射最差，因为标签长轴与天线电场正交。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R4+R5。近距（≤10 cm）四种配置都 6/6，差异在远档显现：30 cm 时 9 dBi 比 6 dBi 多 2.3 个标签，A 厂比 B 厂多约 2 dB。结论：先换天线，再考虑换厂家。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R6（实测）。31 天逐箱对齐：塑料背壳 8252-P 一箱 0 个 98.9%、金属 8252-M 95.2%，只差 3.7 个点，读全都是 0.0x%。原来那组模型数字（塑料 6.00、金属 0.78–4.44）已删掉，因为现网实测不支持绝对值。AX6727 40.5% / 2.12% 是唯一明显不同的一组，先查该批贴标位置与工位，不要当结论。总结：换箱型、换背壳都换不来读全，先修屏蔽、朝向与读码窗口。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66928" y="1828800"/>
            <a:ext cx="54864" cy="157276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8096" y="2084831"/>
            <a:ext cx="960120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RFID 读取能力评估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2927604"/>
            <a:ext cx="4206240" cy="0"/>
          </a:xfrm>
          <a:prstGeom prst="line">
            <a:avLst/>
          </a:prstGeom>
          <a:ln w="12700">
            <a:solidFill>
              <a:srgbClr val="A9B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3112010"/>
            <a:ext cx="8412480" cy="2578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60000"/>
              </a:lnSpc>
            </a:pPr>
            <a:r>
              <a:rPr sz="1200" b="0" dirty="0" err="1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站点</a:t>
            </a:r>
            <a:r>
              <a:rPr sz="1200" b="0" dirty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  7H3AA-PALLET      2026-10-22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A7A8C"/>
                </a:solidFill>
                <a:latin typeface="Arial"/>
                <a:ea typeface="微软雅黑"/>
                <a:cs typeface="Arial"/>
              </a:rPr>
              <a:t>资料：Impinj / Kathrein / Zebra / MagicRF 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 err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六种放置方式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10968" y="525074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100" b="0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正面定义为防爆标签面</a:t>
            </a:r>
            <a:endParaRPr sz="1100" b="0" dirty="0">
              <a:solidFill>
                <a:srgbClr val="8C8C8C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X_fig4" descr="fig4_fa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960120"/>
            <a:ext cx="6903720" cy="3793412"/>
          </a:xfrm>
          <a:prstGeom prst="rect">
            <a:avLst/>
          </a:prstGeom>
        </p:spPr>
      </p:pic>
      <p:graphicFrame>
        <p:nvGraphicFramePr>
          <p:cNvPr id="6" name="PX_faceTable"/>
          <p:cNvGraphicFramePr>
            <a:graphicFrameLocks noGrp="1"/>
          </p:cNvGraphicFramePr>
          <p:nvPr/>
        </p:nvGraphicFramePr>
        <p:xfrm>
          <a:off x="7464247" y="1024128"/>
          <a:ext cx="4160520" cy="2432304"/>
        </p:xfrm>
        <a:graphic>
          <a:graphicData uri="http://schemas.openxmlformats.org/drawingml/2006/table">
            <a:tbl>
              <a:tblPr/>
              <a:tblGrid>
                <a:gridCol w="1783080"/>
                <a:gridCol w="1051560"/>
                <a:gridCol w="132588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朝下的面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箱体高度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标签离天线</a:t>
                      </a:r>
                    </a:p>
                  </a:txBody>
                  <a:tcPr marL="45720" marR="45720" marT="9144" marB="9144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底面朝下（正立）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250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顶面朝下（倒置）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250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正面朝下（防爆标识面）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背面朝下（条码面）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左侧面朝下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右侧面朝下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400 mm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PX_faceNote"/>
          <p:cNvSpPr txBox="1"/>
          <p:nvPr/>
        </p:nvSpPr>
        <p:spPr>
          <a:xfrm>
            <a:off x="7464247" y="3511296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＝标签离天线的等效距离（箱高/2 + 箱面 10 cm）。</a:t>
            </a:r>
          </a:p>
        </p:txBody>
      </p:sp>
      <p:cxnSp>
        <p:nvCxnSpPr>
          <p:cNvPr id="8" name="PX_strip_rule"/>
          <p:cNvCxnSpPr/>
          <p:nvPr/>
        </p:nvCxnSpPr>
        <p:spPr>
          <a:xfrm>
            <a:off x="566928" y="5870448"/>
            <a:ext cx="11057839" cy="0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X_strip_实验"/>
          <p:cNvSpPr txBox="1"/>
          <p:nvPr/>
        </p:nvSpPr>
        <p:spPr>
          <a:xfrm>
            <a:off x="566928" y="5961888"/>
            <a:ext cx="48654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实验</a:t>
            </a:r>
          </a:p>
        </p:txBody>
      </p:sp>
      <p:sp>
        <p:nvSpPr>
          <p:cNvPr id="10" name="PX_strip_实验_txt"/>
          <p:cNvSpPr txBox="1"/>
          <p:nvPr/>
        </p:nvSpPr>
        <p:spPr>
          <a:xfrm>
            <a:off x="566928" y="6144768"/>
            <a:ext cx="486544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同一只箱，只换「哪个面朝下」；读码器固定在下、天线朝上。</a:t>
            </a:r>
          </a:p>
        </p:txBody>
      </p:sp>
      <p:sp>
        <p:nvSpPr>
          <p:cNvPr id="11" name="PX_strip_变量"/>
          <p:cNvSpPr txBox="1"/>
          <p:nvPr/>
        </p:nvSpPr>
        <p:spPr>
          <a:xfrm>
            <a:off x="5653534" y="5961888"/>
            <a:ext cx="22115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变量</a:t>
            </a:r>
          </a:p>
        </p:txBody>
      </p:sp>
      <p:sp>
        <p:nvSpPr>
          <p:cNvPr id="12" name="PX_strip_变量_txt"/>
          <p:cNvSpPr txBox="1"/>
          <p:nvPr/>
        </p:nvSpPr>
        <p:spPr>
          <a:xfrm>
            <a:off x="5653534" y="6144768"/>
            <a:ext cx="221156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朝下的面（6 种）</a:t>
            </a:r>
          </a:p>
        </p:txBody>
      </p:sp>
      <p:sp>
        <p:nvSpPr>
          <p:cNvPr id="13" name="PX_strip_结论"/>
          <p:cNvSpPr txBox="1"/>
          <p:nvPr/>
        </p:nvSpPr>
        <p:spPr>
          <a:xfrm>
            <a:off x="8086258" y="5961888"/>
            <a:ext cx="3538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</a:t>
            </a:r>
          </a:p>
        </p:txBody>
      </p:sp>
      <p:sp>
        <p:nvSpPr>
          <p:cNvPr id="14" name="PX_strip_结论_txt"/>
          <p:cNvSpPr txBox="1"/>
          <p:nvPr/>
        </p:nvSpPr>
        <p:spPr>
          <a:xfrm>
            <a:off x="8086258" y="6144768"/>
            <a:ext cx="35385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底面朝下最好；箱体立起越高，箱内标签离天线越远，侧躺最差。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9D9FE3E6-A546-4E4F-8058-30D09BEC6FEB}"/>
              </a:ext>
            </a:extLst>
          </p:cNvPr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读取方向测试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5" name="Connector 3">
            <a:extLst>
              <a:ext uri="{FF2B5EF4-FFF2-40B4-BE49-F238E27FC236}">
                <a16:creationId xmlns:a16="http://schemas.microsoft.com/office/drawing/2014/main" id="{702756A2-B9C2-4F70-8026-CE4F608837EC}"/>
              </a:ext>
            </a:extLst>
          </p:cNvPr>
          <p:cNvCxnSpPr/>
          <p:nvPr/>
        </p:nvCxnSpPr>
        <p:spPr>
          <a:xfrm>
            <a:off x="566928" y="7879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3_boxtitle"/>
          <p:cNvSpPr txBox="1"/>
          <p:nvPr/>
        </p:nvSpPr>
        <p:spPr>
          <a:xfrm>
            <a:off x="3017520" y="914400"/>
            <a:ext cx="861364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中箱读取测试（2026-10-19）· 实验对象：AX7907A 金属背板（原报告称大/小平板）</a:t>
            </a:r>
          </a:p>
        </p:txBody>
      </p:sp>
      <p:graphicFrame>
        <p:nvGraphicFramePr>
          <p:cNvPr id="11" name="S3_boxtable"/>
          <p:cNvGraphicFramePr>
            <a:graphicFrameLocks noGrp="1"/>
          </p:cNvGraphicFramePr>
          <p:nvPr/>
        </p:nvGraphicFramePr>
        <p:xfrm>
          <a:off x="3017520" y="1417320"/>
          <a:ext cx="8595360" cy="20299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217455165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407884011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87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序号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顶面</a:t>
                      </a:r>
                      <a:endParaRPr sz="850"/>
                    </a:p>
                    <a:p>
                      <a:pPr algn="ctr"/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底面</a:t>
                      </a:r>
                      <a:endParaRPr sz="850"/>
                    </a:p>
                    <a:p>
                      <a:pPr algn="ctr"/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左侧</a:t>
                      </a:r>
                      <a:endParaRPr sz="850"/>
                    </a:p>
                    <a:p>
                      <a:pPr algn="ctr"/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右侧</a:t>
                      </a:r>
                      <a:endParaRPr sz="850"/>
                    </a:p>
                    <a:p>
                      <a:pPr algn="ctr"/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正面</a:t>
                      </a:r>
                      <a:endParaRPr sz="850"/>
                    </a:p>
                    <a:p>
                      <a:pPr algn="ctr"/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背面</a:t>
                      </a:r>
                      <a:endParaRPr sz="850"/>
                    </a:p>
                    <a:p>
                      <a:pPr algn="ctr"/>
                      <a:r>
                        <a:rPr sz="7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读取到的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2553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大电子书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225476"/>
                  </a:ext>
                </a:extLst>
              </a:tr>
              <a:tr h="219456">
                <a:tc rowSpan="4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GN46HP01642601KX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7049399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GN46HP01642601JR</a:t>
                      </a:r>
                      <a:endParaRPr sz="850"/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GN46HP01641604EH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254160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GN456V03643201X6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167372"/>
                  </a:ext>
                </a:extLst>
              </a:tr>
              <a:tr h="219456">
                <a:tc vMerge="1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小电子书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GN456U02642707JL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67125"/>
                  </a:ext>
                </a:extLst>
              </a:tr>
            </a:tbl>
          </a:graphicData>
        </a:graphic>
      </p:graphicFrame>
      <p:sp>
        <p:nvSpPr>
          <p:cNvPr id="12" name="S3_boxtext"/>
          <p:cNvSpPr txBox="1"/>
          <p:nvPr/>
        </p:nvSpPr>
        <p:spPr>
          <a:xfrm>
            <a:off x="3017520" y="3584448"/>
            <a:ext cx="861364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现象：单次最多 2 台（目标 6 台）；顶面 / 底面朝下读到最多，正面 / 背面几乎为 0。</a:t>
            </a:r>
          </a:p>
          <a:p>
            <a:pPr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原因：金属背板 + 箱内互相遮挡 ⇒ 三副天线同时读也读不全。</a:t>
            </a:r>
          </a:p>
        </p:txBody>
      </p:sp>
      <p:sp>
        <p:nvSpPr>
          <p:cNvPr id="13" name="S3_source"/>
          <p:cNvSpPr txBox="1"/>
          <p:nvPr/>
        </p:nvSpPr>
        <p:spPr>
          <a:xfrm>
            <a:off x="3017520" y="4983480"/>
            <a:ext cx="86136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来源：RFID 中箱读取测试报告（2026-10-19，8 轮）· 每行＝一只箱，换朝向读到的是同一台；SN 取自机台 EpcLog 实读。</a:t>
            </a:r>
          </a:p>
        </p:txBody>
      </p:sp>
      <p:pic>
        <p:nvPicPr>
          <p:cNvPr id="16" name="Picture 15" descr="fig_three_r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80160"/>
            <a:ext cx="2423160" cy="3548550"/>
          </a:xfrm>
          <a:prstGeom prst="rect">
            <a:avLst/>
          </a:prstGeom>
        </p:spPr>
      </p:pic>
      <p:sp>
        <p:nvSpPr>
          <p:cNvPr id="18" name="S3_tabnote"/>
          <p:cNvSpPr txBox="1"/>
          <p:nvPr/>
        </p:nvSpPr>
        <p:spPr>
          <a:xfrm>
            <a:off x="3017520" y="1170432"/>
            <a:ext cx="86136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表头＝该面朝下、贴底部读取器；数字＝该姿态读出的台数（整箱 6 台）；空白＝未读到。</a:t>
            </a:r>
          </a:p>
        </p:txBody>
      </p:sp>
      <p:cxnSp>
        <p:nvCxnSpPr>
          <p:cNvPr id="19" name="PX_strip_rule"/>
          <p:cNvCxnSpPr/>
          <p:nvPr/>
        </p:nvCxnSpPr>
        <p:spPr>
          <a:xfrm>
            <a:off x="566928" y="5897880"/>
            <a:ext cx="11057839" cy="0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X_strip_实验"/>
          <p:cNvSpPr txBox="1"/>
          <p:nvPr/>
        </p:nvSpPr>
        <p:spPr>
          <a:xfrm>
            <a:off x="566928" y="5989320"/>
            <a:ext cx="48654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实验</a:t>
            </a:r>
          </a:p>
        </p:txBody>
      </p:sp>
      <p:sp>
        <p:nvSpPr>
          <p:cNvPr id="21" name="PX_strip_实验_txt"/>
          <p:cNvSpPr txBox="1"/>
          <p:nvPr/>
        </p:nvSpPr>
        <p:spPr>
          <a:xfrm>
            <a:off x="566928" y="6172200"/>
            <a:ext cx="486544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一只中箱，8 轮换面朝下；机台三副天线（底/侧/顶）同时读。</a:t>
            </a:r>
          </a:p>
        </p:txBody>
      </p:sp>
      <p:sp>
        <p:nvSpPr>
          <p:cNvPr id="22" name="PX_strip_变量"/>
          <p:cNvSpPr txBox="1"/>
          <p:nvPr/>
        </p:nvSpPr>
        <p:spPr>
          <a:xfrm>
            <a:off x="5653534" y="5989320"/>
            <a:ext cx="22115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变量</a:t>
            </a:r>
          </a:p>
        </p:txBody>
      </p:sp>
      <p:sp>
        <p:nvSpPr>
          <p:cNvPr id="23" name="PX_strip_变量_txt"/>
          <p:cNvSpPr txBox="1"/>
          <p:nvPr/>
        </p:nvSpPr>
        <p:spPr>
          <a:xfrm>
            <a:off x="5653534" y="6172200"/>
            <a:ext cx="221156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朝下的面</a:t>
            </a:r>
          </a:p>
        </p:txBody>
      </p:sp>
      <p:sp>
        <p:nvSpPr>
          <p:cNvPr id="24" name="PX_strip_结论"/>
          <p:cNvSpPr txBox="1"/>
          <p:nvPr/>
        </p:nvSpPr>
        <p:spPr>
          <a:xfrm>
            <a:off x="8086258" y="5989320"/>
            <a:ext cx="3538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</a:t>
            </a:r>
          </a:p>
        </p:txBody>
      </p:sp>
      <p:sp>
        <p:nvSpPr>
          <p:cNvPr id="25" name="PX_strip_结论_txt"/>
          <p:cNvSpPr txBox="1"/>
          <p:nvPr/>
        </p:nvSpPr>
        <p:spPr>
          <a:xfrm>
            <a:off x="8086258" y="6172200"/>
            <a:ext cx="35385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单次最多 2/6；顶/底面朝下最多，正面/背面几乎读不到。</a:t>
            </a:r>
          </a:p>
        </p:txBody>
      </p:sp>
    </p:spTree>
    <p:extLst>
      <p:ext uri="{BB962C8B-B14F-4D97-AF65-F5344CB8AC3E}">
        <p14:creationId xmlns:p14="http://schemas.microsoft.com/office/powerpoint/2010/main" val="211677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机型口径：31 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</a:t>
            </a:r>
            <a:r>
              <a:rPr lang="en-US" altLang="zh-CN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日志</a:t>
            </a:r>
            <a:r>
              <a:rPr lang="zh-CN" altLang="en-US"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统计</a:t>
            </a:r>
            <a:endParaRPr sz="2200" b="1" dirty="0">
              <a:solidFill>
                <a:srgbClr val="1A1A1A"/>
              </a:solidFill>
              <a:latin typeface="Arial"/>
              <a:ea typeface="微软雅黑"/>
              <a:cs typeface="Arial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6" descr="fig13_prod_readout.png">
            <a:extLst>
              <a:ext uri="{FF2B5EF4-FFF2-40B4-BE49-F238E27FC236}">
                <a16:creationId xmlns:a16="http://schemas.microsoft.com/office/drawing/2014/main" id="{5E32B846-4979-43AF-9892-00E9480AE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627" y="3886011"/>
            <a:ext cx="8272273" cy="2783937"/>
          </a:xfrm>
          <a:prstGeom prst="rect">
            <a:avLst/>
          </a:prstGeom>
        </p:spPr>
      </p:pic>
      <p:graphicFrame>
        <p:nvGraphicFramePr>
          <p:cNvPr id="16" name="P4_table"/>
          <p:cNvGraphicFramePr>
            <a:graphicFrameLocks noGrp="1"/>
          </p:cNvGraphicFramePr>
          <p:nvPr/>
        </p:nvGraphicFramePr>
        <p:xfrm>
          <a:off x="566927" y="1353311"/>
          <a:ext cx="11064233" cy="2084832"/>
        </p:xfrm>
        <a:graphic>
          <a:graphicData uri="http://schemas.openxmlformats.org/drawingml/2006/table">
            <a:tbl>
              <a:tblPr/>
              <a:tblGrid>
                <a:gridCol w="980375"/>
                <a:gridCol w="1820697"/>
                <a:gridCol w="1727328"/>
                <a:gridCol w="887006"/>
                <a:gridCol w="887006"/>
                <a:gridCol w="980375"/>
                <a:gridCol w="578888"/>
                <a:gridCol w="578888"/>
                <a:gridCol w="578888"/>
                <a:gridCol w="578888"/>
                <a:gridCol w="578888"/>
                <a:gridCol w="887006"/>
              </a:tblGrid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HQ代码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客户代码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尺寸 / 品类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背壳（MES）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
≥1 箱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只读到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 个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1–2 个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1–3 个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1–4 个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1–5 个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7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6 个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Prosecco/Marsala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93.82%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99.80%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169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85.80%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96.45%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98.82%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1.18%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Sangria/Seabreeze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4,264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67.64%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85.91%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88.30%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93.08%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96.44%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3.56%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312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58.33%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86.22%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96.15%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98.72%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合计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四个在产组合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83,706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5,247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70.17%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87.50%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90.20%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94.26%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97.06%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2.94%</a:t>
                      </a:r>
                    </a:p>
                  </a:txBody>
                  <a:tcPr marL="36576" marR="36576" marT="7315" marB="7315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17" name="PX_stripline_rule"/>
          <p:cNvCxnSpPr/>
          <p:nvPr/>
        </p:nvCxnSpPr>
        <p:spPr>
          <a:xfrm>
            <a:off x="566928" y="3374136"/>
            <a:ext cx="11057839" cy="0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X_stripline"/>
          <p:cNvSpPr txBox="1"/>
          <p:nvPr/>
        </p:nvSpPr>
        <p:spPr>
          <a:xfrm>
            <a:off x="566928" y="3456432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19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实验  </a:t>
            </a:r>
            <a:r>
              <a:rPr sz="9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31 天逐箱对齐（readStatus × EpcLog）；分母＝读到 ≥1 台的箱。      </a:t>
            </a:r>
            <a:r>
              <a:rPr sz="819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变量  </a:t>
            </a:r>
            <a:r>
              <a:rPr sz="9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机型（4 个在产组合）      </a:t>
            </a:r>
            <a:r>
              <a:rPr sz="819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  </a:t>
            </a:r>
            <a:r>
              <a:rPr sz="94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95.0% 的箱一台都读不到；读全 6 台仅 0.14%。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5_title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机型口径结论：四个在产组合都没拉开差距</a:t>
            </a:r>
          </a:p>
        </p:txBody>
      </p:sp>
      <p:sp>
        <p:nvSpPr>
          <p:cNvPr id="3" name="P5_kick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同一批 31 天日志，按背壳分组；AX7771 / AX7513 无包装日志，已移除。</a:t>
            </a:r>
          </a:p>
        </p:txBody>
      </p:sp>
      <p:cxnSp>
        <p:nvCxnSpPr>
          <p:cNvPr id="4" name="P5_rule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5_cap"/>
          <p:cNvSpPr txBox="1"/>
          <p:nvPr/>
        </p:nvSpPr>
        <p:spPr>
          <a:xfrm>
            <a:off x="566928" y="1316736"/>
            <a:ext cx="5897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readStatus=True（＝该箱 RFID 环节判定成功）</a:t>
            </a:r>
          </a:p>
        </p:txBody>
      </p:sp>
      <p:sp>
        <p:nvSpPr>
          <p:cNvPr id="6" name="P5_num_8252-P_塑料"/>
          <p:cNvSpPr txBox="1"/>
          <p:nvPr/>
        </p:nvSpPr>
        <p:spPr>
          <a:xfrm>
            <a:off x="566928" y="1572768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7.8%</a:t>
            </a:r>
          </a:p>
        </p:txBody>
      </p:sp>
      <p:sp>
        <p:nvSpPr>
          <p:cNvPr id="7" name="P5_lab_8252-P_塑料"/>
          <p:cNvSpPr txBox="1"/>
          <p:nvPr/>
        </p:nvSpPr>
        <p:spPr>
          <a:xfrm>
            <a:off x="566928" y="21945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塑料背壳  8252-P · 15,202 箱</a:t>
            </a:r>
          </a:p>
        </p:txBody>
      </p:sp>
      <p:sp>
        <p:nvSpPr>
          <p:cNvPr id="8" name="P5_sub_8252-P_塑料"/>
          <p:cNvSpPr txBox="1"/>
          <p:nvPr/>
        </p:nvSpPr>
        <p:spPr>
          <a:xfrm>
            <a:off x="566928" y="24688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 98.9% · 读全 6 个 0.01%</a:t>
            </a:r>
          </a:p>
        </p:txBody>
      </p:sp>
      <p:sp>
        <p:nvSpPr>
          <p:cNvPr id="9" name="P5_num_8252-M_金属"/>
          <p:cNvSpPr txBox="1"/>
          <p:nvPr/>
        </p:nvSpPr>
        <p:spPr>
          <a:xfrm>
            <a:off x="3246120" y="1572768"/>
            <a:ext cx="26974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8.7%</a:t>
            </a:r>
          </a:p>
        </p:txBody>
      </p:sp>
      <p:sp>
        <p:nvSpPr>
          <p:cNvPr id="10" name="P5_lab_8252-M_金属"/>
          <p:cNvSpPr txBox="1"/>
          <p:nvPr/>
        </p:nvSpPr>
        <p:spPr>
          <a:xfrm>
            <a:off x="3246120" y="219456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金属背壳  8252-M · 6,524 箱</a:t>
            </a:r>
          </a:p>
        </p:txBody>
      </p:sp>
      <p:sp>
        <p:nvSpPr>
          <p:cNvPr id="11" name="P5_sub_8252-M_金属"/>
          <p:cNvSpPr txBox="1"/>
          <p:nvPr/>
        </p:nvSpPr>
        <p:spPr>
          <a:xfrm>
            <a:off x="3246120" y="246888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 0 个 95.2% · 读全 6 个 0.0%</a:t>
            </a:r>
          </a:p>
        </p:txBody>
      </p:sp>
      <p:pic>
        <p:nvPicPr>
          <p:cNvPr id="12" name="P5_fi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889504"/>
            <a:ext cx="1623301" cy="2395728"/>
          </a:xfrm>
          <a:prstGeom prst="rect">
            <a:avLst/>
          </a:prstGeom>
        </p:spPr>
      </p:pic>
      <p:sp>
        <p:nvSpPr>
          <p:cNvPr id="13" name="P5_figcap"/>
          <p:cNvSpPr txBox="1"/>
          <p:nvPr/>
        </p:nvSpPr>
        <p:spPr>
          <a:xfrm>
            <a:off x="566928" y="5358384"/>
            <a:ext cx="170078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读取方式（现网）</a:t>
            </a:r>
          </a:p>
          <a:p>
            <a:pPr algn="l">
              <a:lnSpc>
                <a:spcPct val="100000"/>
              </a:lnSpc>
            </a:pPr>
            <a:r>
              <a:rPr sz="76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正立 · 顶部 + 左侧天线</a:t>
            </a:r>
          </a:p>
        </p:txBody>
      </p:sp>
      <p:sp>
        <p:nvSpPr>
          <p:cNvPr id="14" name="P5_note"/>
          <p:cNvSpPr txBox="1"/>
          <p:nvPr/>
        </p:nvSpPr>
        <p:spPr>
          <a:xfrm>
            <a:off x="2331720" y="2907792"/>
            <a:ext cx="41148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口径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readStatus × EpcLog 按箱对齐；读全 6 台＝6 台都在同一窗口读到。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背壳取 MES CongfigSize（7907 / 6727 未标注，只能到机型级）。</a:t>
            </a:r>
          </a:p>
          <a:p>
            <a:pPr>
              <a:lnSpc>
                <a:spcPct val="130000"/>
              </a:lnSpc>
            </a:pPr>
            <a:r>
              <a:rPr sz="8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AX6727 明显偏高，待查贴标与工位。</a:t>
            </a:r>
          </a:p>
        </p:txBody>
      </p:sp>
      <p:graphicFrame>
        <p:nvGraphicFramePr>
          <p:cNvPr id="15" name="P5_table"/>
          <p:cNvGraphicFramePr>
            <a:graphicFrameLocks noGrp="1"/>
          </p:cNvGraphicFramePr>
          <p:nvPr/>
        </p:nvGraphicFramePr>
        <p:xfrm>
          <a:off x="6903720" y="1335024"/>
          <a:ext cx="4718302" cy="1828800"/>
        </p:xfrm>
        <a:graphic>
          <a:graphicData uri="http://schemas.openxmlformats.org/drawingml/2006/table">
            <a:tbl>
              <a:tblPr/>
              <a:tblGrid>
                <a:gridCol w="900767"/>
                <a:gridCol w="2016002"/>
                <a:gridCol w="729192"/>
                <a:gridCol w="1072341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代号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箱型 / 背壳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readStatus=True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背壳未标注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9.4%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塑料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7.8%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8252-M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金属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8.7%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6727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 · 7″ · 背壳未标注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7.9%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P5_tabcap"/>
          <p:cNvSpPr txBox="1"/>
          <p:nvPr/>
        </p:nvSpPr>
        <p:spPr>
          <a:xfrm>
            <a:off x="6903720" y="3310128"/>
            <a:ext cx="471830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代号＝HQ代码-背壳；readStatus=True 为该组箱级成功判定的占比</a:t>
            </a:r>
          </a:p>
        </p:txBody>
      </p:sp>
      <p:sp>
        <p:nvSpPr>
          <p:cNvPr id="17" name="P5_concl_box"/>
          <p:cNvSpPr/>
          <p:nvPr/>
        </p:nvSpPr>
        <p:spPr>
          <a:xfrm>
            <a:off x="6903720" y="3621024"/>
            <a:ext cx="4718304" cy="1078992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5_concl"/>
          <p:cNvSpPr txBox="1"/>
          <p:nvPr/>
        </p:nvSpPr>
        <p:spPr>
          <a:xfrm>
            <a:off x="7059168" y="3712463"/>
            <a:ext cx="4434840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结论</a:t>
            </a:r>
          </a:p>
          <a:p>
            <a:pPr>
              <a:lnSpc>
                <a:spcPct val="130000"/>
              </a:lnSpc>
            </a:pPr>
            <a:r>
              <a:rPr sz="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读全 6 台 0–3.56%；一箱 0 台 40.5–99.1%。</a:t>
            </a:r>
          </a:p>
          <a:p>
            <a:pPr>
              <a:lnSpc>
                <a:spcPct val="130000"/>
              </a:lnSpc>
            </a:pPr>
            <a:r>
              <a:rPr sz="86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 7.8% vs 金属 8.7%（差 0.9 点）⇒ 背壳、尺寸都换不来读全。</a:t>
            </a:r>
          </a:p>
        </p:txBody>
      </p:sp>
      <p:sp>
        <p:nvSpPr>
          <p:cNvPr id="19" name="P5_bar"/>
          <p:cNvSpPr/>
          <p:nvPr/>
        </p:nvSpPr>
        <p:spPr>
          <a:xfrm>
            <a:off x="566928" y="5797296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5_take"/>
          <p:cNvSpPr txBox="1"/>
          <p:nvPr/>
        </p:nvSpPr>
        <p:spPr>
          <a:xfrm>
            <a:off x="713232" y="5815584"/>
            <a:ext cx="1087495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金属背壳机型：改贴标位置，或在箱外侧加天线 —— 只加功率无效。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dirty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R2：模组选型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59152" y="517229"/>
            <a:ext cx="11057839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  </a:t>
            </a:r>
            <a:r>
              <a:rPr lang="zh-CN" altLang="en-US" sz="1100" b="1" dirty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一次过板全部读到，不能靠重复过板补读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4184" y="704314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5_sub"/>
          <p:cNvSpPr txBox="1"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上排 7 款外观按手册尺寸建模 / 原厂产品图；判据＝一次过板读全 6 台。</a:t>
            </a:r>
          </a:p>
        </p:txBody>
      </p:sp>
      <p:graphicFrame>
        <p:nvGraphicFramePr>
          <p:cNvPr id="9" name="S5_table"/>
          <p:cNvGraphicFramePr>
            <a:graphicFrameLocks noGrp="1"/>
          </p:cNvGraphicFramePr>
          <p:nvPr/>
        </p:nvGraphicFramePr>
        <p:xfrm>
          <a:off x="566928" y="2944368"/>
          <a:ext cx="11055096" cy="2002536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2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型号（形态）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口数 · 功率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读取率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灵敏度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过板 6/6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  Impinj R700（工业读头）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−92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首选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  Impinj R420（工业读头）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32.5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−84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  RodinBell M-703（E710）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口 · 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覆盖好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 Zebra FX9600（一体机）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4/8 口 · 33 dBm PoE+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−86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 Kathrein RRU 4560 / 4xxx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30/33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● 满足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 ThingMagic M6e（模块）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模块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750 tags/s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○ 需实测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 Silion SQM5100（QM100）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模块 · 需外置 PA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待定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−79 dBm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▲ 先整机实测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Picture 9" descr="r2_modules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024128"/>
            <a:ext cx="11055096" cy="1842516"/>
          </a:xfrm>
          <a:prstGeom prst="rect">
            <a:avLst/>
          </a:prstGeom>
        </p:spPr>
      </p:pic>
      <p:cxnSp>
        <p:nvCxnSpPr>
          <p:cNvPr id="11" name="PX_strip_rule"/>
          <p:cNvCxnSpPr/>
          <p:nvPr/>
        </p:nvCxnSpPr>
        <p:spPr>
          <a:xfrm>
            <a:off x="566928" y="5486400"/>
            <a:ext cx="11057839" cy="0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X_strip_实验"/>
          <p:cNvSpPr txBox="1"/>
          <p:nvPr/>
        </p:nvSpPr>
        <p:spPr>
          <a:xfrm>
            <a:off x="566928" y="5577840"/>
            <a:ext cx="48654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实验</a:t>
            </a:r>
          </a:p>
        </p:txBody>
      </p:sp>
      <p:sp>
        <p:nvSpPr>
          <p:cNvPr id="13" name="PX_strip_实验_txt"/>
          <p:cNvSpPr txBox="1"/>
          <p:nvPr/>
        </p:nvSpPr>
        <p:spPr>
          <a:xfrm>
            <a:off x="566928" y="5760720"/>
            <a:ext cx="486544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7 款模组按手册参数换算「一次过板读全 6 台」的概率。</a:t>
            </a:r>
          </a:p>
        </p:txBody>
      </p:sp>
      <p:sp>
        <p:nvSpPr>
          <p:cNvPr id="14" name="PX_strip_变量"/>
          <p:cNvSpPr txBox="1"/>
          <p:nvPr/>
        </p:nvSpPr>
        <p:spPr>
          <a:xfrm>
            <a:off x="5653534" y="5577840"/>
            <a:ext cx="22115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变量</a:t>
            </a:r>
          </a:p>
        </p:txBody>
      </p:sp>
      <p:sp>
        <p:nvSpPr>
          <p:cNvPr id="15" name="PX_strip_变量_txt"/>
          <p:cNvSpPr txBox="1"/>
          <p:nvPr/>
        </p:nvSpPr>
        <p:spPr>
          <a:xfrm>
            <a:off x="5653534" y="5760720"/>
            <a:ext cx="221156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模组形态 / 功率 / 天线口（手册值）</a:t>
            </a:r>
          </a:p>
        </p:txBody>
      </p:sp>
      <p:sp>
        <p:nvSpPr>
          <p:cNvPr id="16" name="PX_strip_结论"/>
          <p:cNvSpPr txBox="1"/>
          <p:nvPr/>
        </p:nvSpPr>
        <p:spPr>
          <a:xfrm>
            <a:off x="8086258" y="5577840"/>
            <a:ext cx="3538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</a:t>
            </a:r>
          </a:p>
        </p:txBody>
      </p:sp>
      <p:sp>
        <p:nvSpPr>
          <p:cNvPr id="17" name="PX_strip_结论_txt"/>
          <p:cNvSpPr txBox="1"/>
          <p:nvPr/>
        </p:nvSpPr>
        <p:spPr>
          <a:xfrm>
            <a:off x="8086258" y="5760720"/>
            <a:ext cx="35385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判据是过板窗口 6/6；近距都能读，差异全在远档。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天线选型：圆极化打底，增益按距离分档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78638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A_sub"/>
          <p:cNvSpPr txBox="1"/>
          <p:nvPr/>
        </p:nvSpPr>
        <p:spPr>
          <a:xfrm>
            <a:off x="566928" y="859536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现网 3 副天线已贴到 &lt;5 cm 仍只有 0.08/6 —— 换天线解决的是极化与覆盖，不是金属屏蔽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280160"/>
          <a:ext cx="11055095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91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方案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增益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极化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读距（自由空间）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结论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5.5–6 dBi（Laird S9025PL 等）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5.5–6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8–10 m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近距首选：波束宽，贴脸覆盖均匀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圆极化板状 8–9 dBi（Silion SLP1002 / Laird S9028）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圆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11–14 m（×1.41）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远距 / 大箱首选；波束窄，姿态必须固定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线极化板状 6 / 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6–9 dBi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同口径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不选：标签朝向一变即失配，侧照最差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抗金属 / 近场天线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近场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金属背壳专项：配合改贴标位置</a:t>
                      </a:r>
                      <a:endParaRPr sz="8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antenna_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675887"/>
            <a:ext cx="11055096" cy="1681383"/>
          </a:xfrm>
          <a:prstGeom prst="rect">
            <a:avLst/>
          </a:prstGeom>
        </p:spPr>
      </p:pic>
      <p:sp>
        <p:nvSpPr>
          <p:cNvPr id="7" name="A_note"/>
          <p:cNvSpPr txBox="1"/>
          <p:nvPr/>
        </p:nvSpPr>
        <p:spPr>
          <a:xfrm>
            <a:off x="566928" y="5468112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尺寸/增益按手册：S9025PL 5.5 dBic · 6 dBi 128²· SLP1002 8 dBi · S9028PCL 9 dBic（同比例绘制）。</a:t>
            </a:r>
          </a:p>
        </p:txBody>
      </p:sp>
      <p:cxnSp>
        <p:nvCxnSpPr>
          <p:cNvPr id="8" name="PX_strip_rule"/>
          <p:cNvCxnSpPr/>
          <p:nvPr/>
        </p:nvCxnSpPr>
        <p:spPr>
          <a:xfrm>
            <a:off x="566928" y="5650992"/>
            <a:ext cx="11057839" cy="0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X_strip_实验"/>
          <p:cNvSpPr txBox="1"/>
          <p:nvPr/>
        </p:nvSpPr>
        <p:spPr>
          <a:xfrm>
            <a:off x="566928" y="5742432"/>
            <a:ext cx="48654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实验</a:t>
            </a:r>
          </a:p>
        </p:txBody>
      </p:sp>
      <p:sp>
        <p:nvSpPr>
          <p:cNvPr id="10" name="PX_strip_实验_txt"/>
          <p:cNvSpPr txBox="1"/>
          <p:nvPr/>
        </p:nvSpPr>
        <p:spPr>
          <a:xfrm>
            <a:off x="566928" y="5925312"/>
            <a:ext cx="486544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4 款天线尺寸/增益对比 + 现网 3 副天线实测。</a:t>
            </a:r>
          </a:p>
        </p:txBody>
      </p:sp>
      <p:sp>
        <p:nvSpPr>
          <p:cNvPr id="11" name="PX_strip_变量"/>
          <p:cNvSpPr txBox="1"/>
          <p:nvPr/>
        </p:nvSpPr>
        <p:spPr>
          <a:xfrm>
            <a:off x="5653534" y="5742432"/>
            <a:ext cx="22115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变量</a:t>
            </a:r>
          </a:p>
        </p:txBody>
      </p:sp>
      <p:sp>
        <p:nvSpPr>
          <p:cNvPr id="12" name="PX_strip_变量_txt"/>
          <p:cNvSpPr txBox="1"/>
          <p:nvPr/>
        </p:nvSpPr>
        <p:spPr>
          <a:xfrm>
            <a:off x="5653534" y="5925312"/>
            <a:ext cx="221156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增益 / 极化 / 尺寸</a:t>
            </a:r>
          </a:p>
        </p:txBody>
      </p:sp>
      <p:sp>
        <p:nvSpPr>
          <p:cNvPr id="13" name="PX_strip_结论"/>
          <p:cNvSpPr txBox="1"/>
          <p:nvPr/>
        </p:nvSpPr>
        <p:spPr>
          <a:xfrm>
            <a:off x="8086258" y="5742432"/>
            <a:ext cx="3538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</a:t>
            </a:r>
          </a:p>
        </p:txBody>
      </p:sp>
      <p:sp>
        <p:nvSpPr>
          <p:cNvPr id="14" name="PX_strip_结论_txt"/>
          <p:cNvSpPr txBox="1"/>
          <p:nvPr/>
        </p:nvSpPr>
        <p:spPr>
          <a:xfrm>
            <a:off x="8086258" y="5925312"/>
            <a:ext cx="35385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现网贴到 &lt;5 cm 仍 0.08/6 —— 换天线解决覆盖，不解决金属屏蔽。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R3：距离不是变量 —— 近与远读数一样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0352" y="87553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3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9 dBi 天线正上方；0–50 cm 远在手册读距（11–14 m）内，理想恒为 6/6；4 台实测只从 1.3 掉到 0 —— 金属背板吃掉了近场优势</a:t>
            </a:r>
          </a:p>
        </p:txBody>
      </p:sp>
      <p:pic>
        <p:nvPicPr>
          <p:cNvPr id="20" name="Picture 19" descr="r3_distance_sc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298448"/>
            <a:ext cx="1828800" cy="2870356"/>
          </a:xfrm>
          <a:prstGeom prst="rect">
            <a:avLst/>
          </a:prstGeom>
        </p:spPr>
      </p:pic>
      <p:sp>
        <p:nvSpPr>
          <p:cNvPr id="21" name="R3_figcap"/>
          <p:cNvSpPr txBox="1"/>
          <p:nvPr/>
        </p:nvSpPr>
        <p:spPr>
          <a:xfrm>
            <a:off x="566928" y="420624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同一只箱体，天线在正上方 0 / 10 / 20 / 30 / 40 cm 五个位置（线框示意）</a:t>
            </a:r>
          </a:p>
        </p:txBody>
      </p:sp>
      <p:sp>
        <p:nvSpPr>
          <p:cNvPr id="22" name="R3_t0"/>
          <p:cNvSpPr txBox="1"/>
          <p:nvPr/>
        </p:nvSpPr>
        <p:spPr>
          <a:xfrm>
            <a:off x="7269480" y="1298448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6.00 / 6</a:t>
            </a:r>
          </a:p>
        </p:txBody>
      </p:sp>
      <p:sp>
        <p:nvSpPr>
          <p:cNvPr id="23" name="R3_c0"/>
          <p:cNvSpPr txBox="1"/>
          <p:nvPr/>
        </p:nvSpPr>
        <p:spPr>
          <a:xfrm>
            <a:off x="7269480" y="1700784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手册理论：0–10 cm 应读全</a:t>
            </a:r>
          </a:p>
        </p:txBody>
      </p:sp>
      <p:sp>
        <p:nvSpPr>
          <p:cNvPr id="24" name="R3_t1"/>
          <p:cNvSpPr txBox="1"/>
          <p:nvPr/>
        </p:nvSpPr>
        <p:spPr>
          <a:xfrm>
            <a:off x="9464040" y="1298448"/>
            <a:ext cx="21031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1.3 / 6</a:t>
            </a:r>
          </a:p>
        </p:txBody>
      </p:sp>
      <p:sp>
        <p:nvSpPr>
          <p:cNvPr id="25" name="R3_c1"/>
          <p:cNvSpPr txBox="1"/>
          <p:nvPr/>
        </p:nvSpPr>
        <p:spPr>
          <a:xfrm>
            <a:off x="9464040" y="1700784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实测：4 pcs 均值（0–5 cm）</a:t>
            </a:r>
          </a:p>
        </p:txBody>
      </p:sp>
      <p:pic>
        <p:nvPicPr>
          <p:cNvPr id="26" name="Picture 25" descr="r3_theory_vs_act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298448"/>
            <a:ext cx="4526280" cy="3443909"/>
          </a:xfrm>
          <a:prstGeom prst="rect">
            <a:avLst/>
          </a:prstGeom>
        </p:spPr>
      </p:pic>
      <p:sp>
        <p:nvSpPr>
          <p:cNvPr id="27" name="R3_concl"/>
          <p:cNvSpPr txBox="1"/>
          <p:nvPr/>
        </p:nvSpPr>
        <p:spPr>
          <a:xfrm>
            <a:off x="7269480" y="2240280"/>
            <a:ext cx="4389120" cy="2423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手册说 0–10 cm 该读全 6 台，实测只有 1.3 台。</a:t>
            </a:r>
          </a:p>
          <a:p>
            <a:pPr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金属背板互相遮挡 ⇒ 近场增益被吃掉，压距离换不来读数。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682211"/>
              </p:ext>
            </p:extLst>
          </p:nvPr>
        </p:nvGraphicFramePr>
        <p:xfrm>
          <a:off x="566928" y="4736592"/>
          <a:ext cx="11055096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54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类型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 rowSpan="4"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金属电子书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 vMerge="1">
                  <a:txBody>
                    <a:bodyPr/>
                    <a:lstStyle/>
                    <a:p>
                      <a:pPr algn="ctr"/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85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85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9" name="PX_strip_rule"/>
          <p:cNvCxnSpPr/>
          <p:nvPr/>
        </p:nvCxnSpPr>
        <p:spPr>
          <a:xfrm>
            <a:off x="566928" y="6071616"/>
            <a:ext cx="11057839" cy="0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PX_strip_实验"/>
          <p:cNvSpPr txBox="1"/>
          <p:nvPr/>
        </p:nvSpPr>
        <p:spPr>
          <a:xfrm>
            <a:off x="566928" y="6163056"/>
            <a:ext cx="48654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实验</a:t>
            </a:r>
          </a:p>
        </p:txBody>
      </p:sp>
      <p:sp>
        <p:nvSpPr>
          <p:cNvPr id="31" name="PX_strip_实验_txt"/>
          <p:cNvSpPr txBox="1"/>
          <p:nvPr/>
        </p:nvSpPr>
        <p:spPr>
          <a:xfrm>
            <a:off x="566928" y="6345936"/>
            <a:ext cx="486544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同一只箱，天线正上方 0 / 10 / 20 / 30 / 40 / 50 cm。</a:t>
            </a:r>
          </a:p>
        </p:txBody>
      </p:sp>
      <p:sp>
        <p:nvSpPr>
          <p:cNvPr id="32" name="PX_strip_变量"/>
          <p:cNvSpPr txBox="1"/>
          <p:nvPr/>
        </p:nvSpPr>
        <p:spPr>
          <a:xfrm>
            <a:off x="5653534" y="6163056"/>
            <a:ext cx="22115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变量</a:t>
            </a:r>
          </a:p>
        </p:txBody>
      </p:sp>
      <p:sp>
        <p:nvSpPr>
          <p:cNvPr id="33" name="PX_strip_变量_txt"/>
          <p:cNvSpPr txBox="1"/>
          <p:nvPr/>
        </p:nvSpPr>
        <p:spPr>
          <a:xfrm>
            <a:off x="5653534" y="6345936"/>
            <a:ext cx="221156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距离</a:t>
            </a:r>
          </a:p>
        </p:txBody>
      </p:sp>
      <p:sp>
        <p:nvSpPr>
          <p:cNvPr id="34" name="PX_strip_结论"/>
          <p:cNvSpPr txBox="1"/>
          <p:nvPr/>
        </p:nvSpPr>
        <p:spPr>
          <a:xfrm>
            <a:off x="8086258" y="6163056"/>
            <a:ext cx="3538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</a:t>
            </a:r>
          </a:p>
        </p:txBody>
      </p:sp>
      <p:sp>
        <p:nvSpPr>
          <p:cNvPr id="35" name="PX_strip_结论_txt"/>
          <p:cNvSpPr txBox="1"/>
          <p:nvPr/>
        </p:nvSpPr>
        <p:spPr>
          <a:xfrm>
            <a:off x="8086258" y="6345936"/>
            <a:ext cx="35385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1.3 → 0：读数与距离无关，别再压距离或加功率。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4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R4：同一台音频杰读码器，9 dBi 与 6 dBi 天线对比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4" name="R4_sub"/>
          <p:cNvSpPr txBox="1"/>
          <p:nvPr/>
        </p:nvSpPr>
        <p:spPr>
          <a:xfrm>
            <a:off x="566928" y="91440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同一台读码器、同一箱体；4 pcs 分别用 9 dBi / 6 dBi 各测一轮，单次结果与读到 SN 见下表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092039"/>
              </p:ext>
            </p:extLst>
          </p:nvPr>
        </p:nvGraphicFramePr>
        <p:xfrm>
          <a:off x="566928" y="1325880"/>
          <a:ext cx="598932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天线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 cm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SN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  <a:endParaRPr lang="zh-CN" altLang="en-US"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rowSpan="4"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dBi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GN46HP01641502GU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GN46HP01642601PC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GN46HP01641603MC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pPr algn="ctr"/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</a:t>
                      </a:r>
                      <a:endParaRPr sz="78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20" b="0" dirty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GN46HP01642601JM</a:t>
                      </a:r>
                      <a:endParaRPr sz="780" dirty="0"/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6" name="Picture 5" descr="r4_9_vs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25880"/>
            <a:ext cx="4754880" cy="3617843"/>
          </a:xfrm>
          <a:prstGeom prst="rect">
            <a:avLst/>
          </a:prstGeom>
        </p:spPr>
      </p:pic>
      <p:sp>
        <p:nvSpPr>
          <p:cNvPr id="7" name="R4_body"/>
          <p:cNvSpPr txBox="1"/>
          <p:nvPr/>
        </p:nvSpPr>
        <p:spPr>
          <a:xfrm>
            <a:off x="566928" y="3154680"/>
            <a:ext cx="5989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 dBi 均值 0.79 台/箱，6 dBi 0.58 —— 差 0.21 台，手册的 +3 dB 没体现。</a:t>
            </a:r>
          </a:p>
          <a:p>
            <a:pPr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1→6 个箱内金属背板互挡：增益救不回。</a:t>
            </a:r>
          </a:p>
        </p:txBody>
      </p:sp>
      <p:sp>
        <p:nvSpPr>
          <p:cNvPr id="8" name="R4_src"/>
          <p:cNvSpPr txBox="1"/>
          <p:nvPr/>
        </p:nvSpPr>
        <p:spPr>
          <a:xfrm>
            <a:off x="566928" y="5349240"/>
            <a:ext cx="1105509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4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同一批 4 只箱各测两轮；SN 取自 EpcLog 实读（同一批）。</a:t>
            </a:r>
          </a:p>
        </p:txBody>
      </p:sp>
      <p:cxnSp>
        <p:nvCxnSpPr>
          <p:cNvPr id="9" name="PX_strip_rule"/>
          <p:cNvCxnSpPr/>
          <p:nvPr/>
        </p:nvCxnSpPr>
        <p:spPr>
          <a:xfrm>
            <a:off x="566928" y="5897880"/>
            <a:ext cx="11057839" cy="0"/>
          </a:xfrm>
          <a:prstGeom prst="line">
            <a:avLst/>
          </a:prstGeom>
          <a:ln w="9525">
            <a:solidFill>
              <a:srgbClr val="E4E4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X_strip_实验"/>
          <p:cNvSpPr txBox="1"/>
          <p:nvPr/>
        </p:nvSpPr>
        <p:spPr>
          <a:xfrm>
            <a:off x="566928" y="5989320"/>
            <a:ext cx="486544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实验</a:t>
            </a:r>
          </a:p>
        </p:txBody>
      </p:sp>
      <p:sp>
        <p:nvSpPr>
          <p:cNvPr id="11" name="PX_strip_实验_txt"/>
          <p:cNvSpPr txBox="1"/>
          <p:nvPr/>
        </p:nvSpPr>
        <p:spPr>
          <a:xfrm>
            <a:off x="566928" y="6172200"/>
            <a:ext cx="4865449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同一台读码器、同一批 4 箱，换 9 dBi / 6 dBi 各测一轮。</a:t>
            </a:r>
          </a:p>
        </p:txBody>
      </p:sp>
      <p:sp>
        <p:nvSpPr>
          <p:cNvPr id="12" name="PX_strip_变量"/>
          <p:cNvSpPr txBox="1"/>
          <p:nvPr/>
        </p:nvSpPr>
        <p:spPr>
          <a:xfrm>
            <a:off x="5653534" y="5989320"/>
            <a:ext cx="2211567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变量</a:t>
            </a:r>
          </a:p>
        </p:txBody>
      </p:sp>
      <p:sp>
        <p:nvSpPr>
          <p:cNvPr id="13" name="PX_strip_变量_txt"/>
          <p:cNvSpPr txBox="1"/>
          <p:nvPr/>
        </p:nvSpPr>
        <p:spPr>
          <a:xfrm>
            <a:off x="5653534" y="6172200"/>
            <a:ext cx="2211567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天线增益</a:t>
            </a:r>
          </a:p>
        </p:txBody>
      </p:sp>
      <p:sp>
        <p:nvSpPr>
          <p:cNvPr id="14" name="PX_strip_结论"/>
          <p:cNvSpPr txBox="1"/>
          <p:nvPr/>
        </p:nvSpPr>
        <p:spPr>
          <a:xfrm>
            <a:off x="8086258" y="5989320"/>
            <a:ext cx="353850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6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</a:t>
            </a:r>
          </a:p>
        </p:txBody>
      </p:sp>
      <p:sp>
        <p:nvSpPr>
          <p:cNvPr id="15" name="PX_strip_结论_txt"/>
          <p:cNvSpPr txBox="1"/>
          <p:nvPr/>
        </p:nvSpPr>
        <p:spPr>
          <a:xfrm>
            <a:off x="8086258" y="6172200"/>
            <a:ext cx="3538508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19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0.79 vs 0.58（差 0.21）—— 增益不是主变量。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9DADCA6-5042-431B-9760-4842AD24C2D1}"/>
              </a:ext>
            </a:extLst>
          </p:cNvPr>
          <p:cNvSpPr txBox="1"/>
          <p:nvPr/>
        </p:nvSpPr>
        <p:spPr>
          <a:xfrm>
            <a:off x="971550" y="2828835"/>
            <a:ext cx="100298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7200" dirty="0"/>
              <a:t>Back Up</a:t>
            </a:r>
            <a:endParaRPr lang="zh-CN" altLang="en-US" sz="7200" dirty="0"/>
          </a:p>
        </p:txBody>
      </p:sp>
    </p:spTree>
    <p:extLst>
      <p:ext uri="{BB962C8B-B14F-4D97-AF65-F5344CB8AC3E}">
        <p14:creationId xmlns:p14="http://schemas.microsoft.com/office/powerpoint/2010/main" val="66772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_title"/>
          <p:cNvSpPr txBox="1"/>
          <p:nvPr/>
        </p:nvSpPr>
        <p:spPr>
          <a:xfrm>
            <a:off x="566928" y="365760"/>
            <a:ext cx="1105509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 附：手册 / 产品页出处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877824"/>
            <a:ext cx="11055096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97280"/>
            <a:ext cx="2651760" cy="3913801"/>
          </a:xfrm>
          <a:prstGeom prst="rect">
            <a:avLst/>
          </a:prstGeom>
        </p:spPr>
      </p:pic>
      <p:sp>
        <p:nvSpPr>
          <p:cNvPr id="5" name="B_text"/>
          <p:cNvSpPr txBox="1"/>
          <p:nvPr/>
        </p:nvSpPr>
        <p:spPr>
          <a:xfrm>
            <a:off x="3529584" y="1097280"/>
            <a:ext cx="809244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① RodinBell M-703（E710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产品页：8 天线口、33 dBm、900 tags/s；外形尺寸取手册图比例。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② Kathrein RRU 4560 / 4xxx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RRU 4000 系列 datasheet：背板 ANT1–4，30/33 dBm。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③ Silion SQM5100（RFID-CM100 平台）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装置图：模块需外置 PA 才能到 30 dBm；−79 dBm 灵敏度按手册。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其余 4 款没有可公开引用的产品图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R700（214×149×30 mm）、R420（190×127×33 mm）、FX9600（273×184×51 mm）、M6e（66×36×8 mm）：P5 用按手册尺寸建的 3D 模型；M-703 / RRU 4560 / SQM5100 用原厂产品图，尺寸标“≈”。</a:t>
            </a:r>
          </a:p>
          <a:p>
            <a:pPr algn="l"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口径提醒</a:t>
            </a:r>
          </a:p>
          <a:p>
            <a:pPr algn="l">
              <a:lnSpc>
                <a:spcPct val="125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 tags/s 与灵敏度都是理想条件；箱内 6 台叠放、金属背壳下按 7 折估，最终以整机实测为准。</a:t>
            </a:r>
          </a:p>
        </p:txBody>
      </p:sp>
      <p:sp>
        <p:nvSpPr>
          <p:cNvPr id="6" name="B_qtitle"/>
          <p:cNvSpPr txBox="1"/>
          <p:nvPr/>
        </p:nvSpPr>
        <p:spPr>
          <a:xfrm>
            <a:off x="3529584" y="4526280"/>
            <a:ext cx="809244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选型要问供应商的 8 个问题（现场核对用）</a:t>
            </a:r>
          </a:p>
        </p:txBody>
      </p:sp>
      <p:sp>
        <p:nvSpPr>
          <p:cNvPr id="7" name="B_q1"/>
          <p:cNvSpPr txBox="1"/>
          <p:nvPr/>
        </p:nvSpPr>
        <p:spPr>
          <a:xfrm>
            <a:off x="3529584" y="4828032"/>
            <a:ext cx="38862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1. 输出功率范围（dBm）是否可调？几个天线口？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2. 接收灵敏度（dBm）？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3. 支持 Session 1/2/3、DualTarget？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4. 盘点速率实测值（不是理论值）？</a:t>
            </a:r>
          </a:p>
        </p:txBody>
      </p:sp>
      <p:sp>
        <p:nvSpPr>
          <p:cNvPr id="8" name="B_q2"/>
          <p:cNvSpPr txBox="1"/>
          <p:nvPr/>
        </p:nvSpPr>
        <p:spPr>
          <a:xfrm>
            <a:off x="7516368" y="4828032"/>
            <a:ext cx="411480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5. 接口与供电（PoE？24 V？）、防护等级？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6. 支持 RSSI / 相位 / TID 上报？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7. SDK/API（.NET / C / REST）、有 LLRP 吗？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8. 价格、交期、现场调试支持？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OC_title"/>
          <p:cNvSpPr txBox="1"/>
          <p:nvPr/>
        </p:nvSpPr>
        <p:spPr>
          <a:xfrm>
            <a:off x="566928" y="5029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目录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188720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OC_n1"/>
          <p:cNvSpPr txBox="1"/>
          <p:nvPr/>
        </p:nvSpPr>
        <p:spPr>
          <a:xfrm>
            <a:off x="841247" y="14813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1</a:t>
            </a:r>
          </a:p>
        </p:txBody>
      </p:sp>
      <p:sp>
        <p:nvSpPr>
          <p:cNvPr id="5" name="TOC_t1"/>
          <p:cNvSpPr txBox="1"/>
          <p:nvPr/>
        </p:nvSpPr>
        <p:spPr>
          <a:xfrm>
            <a:off x="1344168" y="1453896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六种放置方式</a:t>
            </a:r>
          </a:p>
        </p:txBody>
      </p:sp>
      <p:sp>
        <p:nvSpPr>
          <p:cNvPr id="6" name="TOC_p1"/>
          <p:cNvSpPr txBox="1"/>
          <p:nvPr/>
        </p:nvSpPr>
        <p:spPr>
          <a:xfrm>
            <a:off x="9345167" y="145389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41247" y="1938528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OC_n2"/>
          <p:cNvSpPr txBox="1"/>
          <p:nvPr/>
        </p:nvSpPr>
        <p:spPr>
          <a:xfrm>
            <a:off x="841247" y="20116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2</a:t>
            </a:r>
          </a:p>
        </p:txBody>
      </p:sp>
      <p:sp>
        <p:nvSpPr>
          <p:cNvPr id="9" name="TOC_t2"/>
          <p:cNvSpPr txBox="1"/>
          <p:nvPr/>
        </p:nvSpPr>
        <p:spPr>
          <a:xfrm>
            <a:off x="1344168" y="1984248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读取方向测试</a:t>
            </a:r>
          </a:p>
        </p:txBody>
      </p:sp>
      <p:sp>
        <p:nvSpPr>
          <p:cNvPr id="10" name="TOC_p2"/>
          <p:cNvSpPr txBox="1"/>
          <p:nvPr/>
        </p:nvSpPr>
        <p:spPr>
          <a:xfrm>
            <a:off x="9345167" y="198424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41247" y="2468880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OC_n3"/>
          <p:cNvSpPr txBox="1"/>
          <p:nvPr/>
        </p:nvSpPr>
        <p:spPr>
          <a:xfrm>
            <a:off x="841247" y="254203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3</a:t>
            </a:r>
          </a:p>
        </p:txBody>
      </p:sp>
      <p:sp>
        <p:nvSpPr>
          <p:cNvPr id="13" name="TOC_t3"/>
          <p:cNvSpPr txBox="1"/>
          <p:nvPr/>
        </p:nvSpPr>
        <p:spPr>
          <a:xfrm>
            <a:off x="1344168" y="2514600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机型口径：31 天日志统计</a:t>
            </a:r>
          </a:p>
        </p:txBody>
      </p:sp>
      <p:sp>
        <p:nvSpPr>
          <p:cNvPr id="14" name="TOC_p3"/>
          <p:cNvSpPr txBox="1"/>
          <p:nvPr/>
        </p:nvSpPr>
        <p:spPr>
          <a:xfrm>
            <a:off x="9345167" y="251460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1247" y="2999232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OC_n4"/>
          <p:cNvSpPr txBox="1"/>
          <p:nvPr/>
        </p:nvSpPr>
        <p:spPr>
          <a:xfrm>
            <a:off x="841247" y="30723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4</a:t>
            </a:r>
          </a:p>
        </p:txBody>
      </p:sp>
      <p:sp>
        <p:nvSpPr>
          <p:cNvPr id="17" name="TOC_t4"/>
          <p:cNvSpPr txBox="1"/>
          <p:nvPr/>
        </p:nvSpPr>
        <p:spPr>
          <a:xfrm>
            <a:off x="1344168" y="304495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机型口径结论</a:t>
            </a:r>
          </a:p>
        </p:txBody>
      </p:sp>
      <p:sp>
        <p:nvSpPr>
          <p:cNvPr id="18" name="TOC_p4"/>
          <p:cNvSpPr txBox="1"/>
          <p:nvPr/>
        </p:nvSpPr>
        <p:spPr>
          <a:xfrm>
            <a:off x="9345167" y="304495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1247" y="3529584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OC_n5"/>
          <p:cNvSpPr txBox="1"/>
          <p:nvPr/>
        </p:nvSpPr>
        <p:spPr>
          <a:xfrm>
            <a:off x="841247" y="360273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5</a:t>
            </a:r>
          </a:p>
        </p:txBody>
      </p:sp>
      <p:sp>
        <p:nvSpPr>
          <p:cNvPr id="21" name="TOC_t5"/>
          <p:cNvSpPr txBox="1"/>
          <p:nvPr/>
        </p:nvSpPr>
        <p:spPr>
          <a:xfrm>
            <a:off x="1344168" y="3575304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 模组选型</a:t>
            </a:r>
          </a:p>
        </p:txBody>
      </p:sp>
      <p:sp>
        <p:nvSpPr>
          <p:cNvPr id="22" name="TOC_p5"/>
          <p:cNvSpPr txBox="1"/>
          <p:nvPr/>
        </p:nvSpPr>
        <p:spPr>
          <a:xfrm>
            <a:off x="9345167" y="3575304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7" y="4059936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OC_n6"/>
          <p:cNvSpPr txBox="1"/>
          <p:nvPr/>
        </p:nvSpPr>
        <p:spPr>
          <a:xfrm>
            <a:off x="841247" y="41330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6</a:t>
            </a:r>
          </a:p>
        </p:txBody>
      </p:sp>
      <p:sp>
        <p:nvSpPr>
          <p:cNvPr id="25" name="TOC_t6"/>
          <p:cNvSpPr txBox="1"/>
          <p:nvPr/>
        </p:nvSpPr>
        <p:spPr>
          <a:xfrm>
            <a:off x="1344168" y="4105656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天线选型</a:t>
            </a:r>
          </a:p>
        </p:txBody>
      </p:sp>
      <p:sp>
        <p:nvSpPr>
          <p:cNvPr id="26" name="TOC_p6"/>
          <p:cNvSpPr txBox="1"/>
          <p:nvPr/>
        </p:nvSpPr>
        <p:spPr>
          <a:xfrm>
            <a:off x="9345167" y="410565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7" y="4590288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OC_n7"/>
          <p:cNvSpPr txBox="1"/>
          <p:nvPr/>
        </p:nvSpPr>
        <p:spPr>
          <a:xfrm>
            <a:off x="841247" y="46634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7</a:t>
            </a:r>
          </a:p>
        </p:txBody>
      </p:sp>
      <p:sp>
        <p:nvSpPr>
          <p:cNvPr id="29" name="TOC_t7"/>
          <p:cNvSpPr txBox="1"/>
          <p:nvPr/>
        </p:nvSpPr>
        <p:spPr>
          <a:xfrm>
            <a:off x="1344168" y="4636008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 距离实测</a:t>
            </a:r>
          </a:p>
        </p:txBody>
      </p:sp>
      <p:sp>
        <p:nvSpPr>
          <p:cNvPr id="30" name="TOC_p7"/>
          <p:cNvSpPr txBox="1"/>
          <p:nvPr/>
        </p:nvSpPr>
        <p:spPr>
          <a:xfrm>
            <a:off x="9345167" y="463600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9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7" y="5120640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OC_n8"/>
          <p:cNvSpPr txBox="1"/>
          <p:nvPr/>
        </p:nvSpPr>
        <p:spPr>
          <a:xfrm>
            <a:off x="841247" y="5193792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8</a:t>
            </a:r>
          </a:p>
        </p:txBody>
      </p:sp>
      <p:sp>
        <p:nvSpPr>
          <p:cNvPr id="33" name="TOC_t8"/>
          <p:cNvSpPr txBox="1"/>
          <p:nvPr/>
        </p:nvSpPr>
        <p:spPr>
          <a:xfrm>
            <a:off x="1344168" y="5166360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R4 增益实测</a:t>
            </a:r>
          </a:p>
        </p:txBody>
      </p:sp>
      <p:sp>
        <p:nvSpPr>
          <p:cNvPr id="34" name="TOC_p8"/>
          <p:cNvSpPr txBox="1"/>
          <p:nvPr/>
        </p:nvSpPr>
        <p:spPr>
          <a:xfrm>
            <a:off x="9345167" y="5166360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10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41247" y="5650992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OC_n9"/>
          <p:cNvSpPr txBox="1"/>
          <p:nvPr/>
        </p:nvSpPr>
        <p:spPr>
          <a:xfrm>
            <a:off x="841247" y="5724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9</a:t>
            </a:r>
          </a:p>
        </p:txBody>
      </p:sp>
      <p:sp>
        <p:nvSpPr>
          <p:cNvPr id="37" name="TOC_t9"/>
          <p:cNvSpPr txBox="1"/>
          <p:nvPr/>
        </p:nvSpPr>
        <p:spPr>
          <a:xfrm>
            <a:off x="1344168" y="5696712"/>
            <a:ext cx="7680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附录（手册出处 / 选型问题清单）</a:t>
            </a:r>
          </a:p>
        </p:txBody>
      </p:sp>
      <p:sp>
        <p:nvSpPr>
          <p:cNvPr id="38" name="TOC_p9"/>
          <p:cNvSpPr txBox="1"/>
          <p:nvPr/>
        </p:nvSpPr>
        <p:spPr>
          <a:xfrm>
            <a:off x="9345167" y="569671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11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7" y="6181344"/>
            <a:ext cx="10509200" cy="0"/>
          </a:xfrm>
          <a:prstGeom prst="line">
            <a:avLst/>
          </a:prstGeom>
          <a:ln w="9525">
            <a:solidFill>
              <a:srgbClr val="EFEF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1904</Words>
  <Application>Microsoft Office PowerPoint</Application>
  <PresentationFormat>宽屏</PresentationFormat>
  <Paragraphs>378</Paragraphs>
  <Slides>11</Slides>
  <Notes>7</Notes>
  <HiddenSlides>1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唐博知</dc:creator>
  <cp:keywords/>
  <dc:description>generated using python-pptx</dc:description>
  <cp:lastModifiedBy>博知 唐</cp:lastModifiedBy>
  <cp:revision>11</cp:revision>
  <dcterms:created xsi:type="dcterms:W3CDTF">2013-01-27T09:14:16Z</dcterms:created>
  <dcterms:modified xsi:type="dcterms:W3CDTF">2026-10-23T03:28:18Z</dcterms:modified>
  <cp:category/>
</cp:coreProperties>
</file>