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封面。这一版按你重排后的 6 条要求组织：R1 放置方式（3D）、R2 模组类型（手册对比）、R3 距离、R4 增益、R5 厂家、R6 箱型。关键前提说清楚：除 R1/R2 是已确定内容，R3–R6 的数值都是手册参数推算 + 模型预测，明天实测替换。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先给判定总表。被问“数据哪来的”就指向底部说明：功率/灵敏度/增益/标签 −22 dBm 来自厂家手册，箱体与背壳损耗是假设值，所以只保证趋势、不保证绝对值。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R1。六种姿态用 Blender 渲染，蓝锥是天线主波束。要点：正面/背面同为长×高，靠防爆标识与条码面区分；A1 是本线实际姿态，其余作为对照。标签在箱内，箱面只有条码与序列号 —— 这句话能挡住“为什么不读箱面标签”的追问。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R2。产品图来自厂家页面/datasheet，参数照抄手册：R700 33 dBm/4 口、R420 32.5 dBm/−84 dBm、M-703 8 口 900 tags/s、M6e 750 tags/s、FX9600 33 dBm/−86 dBm、RRU 4560 33 dBm、SQM5100（QM100）−79 dBm 需外置 PA。提醒：国产方案片内 PA 只有 4 dBm，整机功率靠外置功放，必须实测。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R3。距离是主要变量：0–10 cm 稳读全，20 cm 起掉，50 cm 只剩 1.9/6。为什么手册说 8–14 m 而这里只有 cm 级：箱壁+塑料背壳+极化失配吃掉 25–30 dB，读距除以 18–31。侧面照射最差，因为标签长轴与天线电场正交。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R4+R5。近距（≤10 cm）四种配置都 6/6，差异在远档显现：30 cm 时 9 dBi 比 6 dBi 多 2.3 个标签，A 厂比 B 厂多约 2 dB。结论：先换天线，再考虑换厂家。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R6。六个箱型用项目代号。塑料背壳两类都 6/6；金属背壳直接掉到 0.8–4.4；平板类比 Kinder 略好但同样救不回来。若产线要上金属背壳，改贴标位置或在开口侧加天线。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框架。三张 CSV：A/B（姿态+距离 30 行）、C（厂家×增益 12 行）、E（箱型 6 行）。填完贴回 _sim 同名文件重跑脚本，8 页图与表全部换实测值。纪律三条：≥30 秒 ≥3 箱、参数不留空、测完 pause。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6928" y="1828800"/>
            <a:ext cx="54864" cy="1572768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1773936"/>
            <a:ext cx="8686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95959"/>
                </a:solidFill>
                <a:latin typeface="Arial"/>
                <a:ea typeface="微软雅黑"/>
                <a:cs typeface="Arial"/>
              </a:rPr>
              <a:t>华勤 · MD5 / MBD3MD3 · 线体 7H3PK1 · 工位「自动扫描称重」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8096" y="2084831"/>
            <a:ext cx="96012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262626"/>
                </a:solidFill>
                <a:latin typeface="Arial"/>
                <a:ea typeface="微软雅黑"/>
                <a:cs typeface="Arial"/>
              </a:rPr>
              <a:t>RFID 读取能力评估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798064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六项要求 · 3D 示意 · 距离与箱型读取结果（模型预测版，待实测替换）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8096" y="3529584"/>
            <a:ext cx="4206240" cy="0"/>
          </a:xfrm>
          <a:prstGeom prst="line">
            <a:avLst/>
          </a:prstGeom>
          <a:ln w="12700">
            <a:solidFill>
              <a:srgbClr val="A9BA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68096" y="3675887"/>
            <a:ext cx="8412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60000"/>
              </a:lnSpc>
            </a:pPr>
            <a:r>
              <a:rPr sz="12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站点  7H3AA-PALLET      版本  V1.2（框架 + 预测数据）      2026-10-22      设备工程</a:t>
            </a:r>
          </a:p>
          <a:p>
            <a:pPr>
              <a:lnSpc>
                <a:spcPct val="160000"/>
              </a:lnSpc>
            </a:pPr>
            <a:r>
              <a:rPr sz="1050" b="0">
                <a:solidFill>
                  <a:srgbClr val="5A6472"/>
                </a:solidFill>
                <a:latin typeface="Arial"/>
                <a:ea typeface="微软雅黑"/>
                <a:cs typeface="Arial"/>
              </a:rPr>
              <a:t>封面起全部数值：手册参数推算 + 参数化模型预测，非实测；明日按 P8 模板填表后重出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9855" y="619963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A7A8C"/>
                </a:solidFill>
                <a:latin typeface="Arial"/>
                <a:ea typeface="微软雅黑"/>
                <a:cs typeface="Arial"/>
              </a:rPr>
              <a:t>资料：Impinj / Kathrein / Zebra / MagicRF 手册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六项要求 × 当前判定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结论先行：每条给结论、给依据类型；标注“预测”的都不是实测值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2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417320"/>
          <a:ext cx="11057837" cy="3200400"/>
        </p:xfrm>
        <a:graphic>
          <a:graphicData uri="http://schemas.openxmlformats.org/drawingml/2006/table">
            <a:tbl>
              <a:tblPr/>
              <a:tblGrid>
                <a:gridCol w="478694"/>
                <a:gridCol w="3398729"/>
                <a:gridCol w="957388"/>
                <a:gridCol w="6223026"/>
              </a:tblGrid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要求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结论 / 依据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放置方式：6 个面分别作底面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3D 已出图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A1–A6 六姿态；防爆标识在正面、条码+6 序列号在背面（Blender 渲染）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可挑选的 RFID 模组类型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手册已比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类形态 + 6 家品牌手册参数 + 产品图（图源见页脚）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距离（9 dB，上/下/侧）对读取的影响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读全窗口 ≤10 cm；50 cm 掉到 1.9/6；侧面照射最差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不同读码器：9 dB 与 6 dB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cm：9 dBi 5.22/6 vs 6 dBi 2.89/6 ⇒ 差约 2.3 个标签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不同厂家（×2）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厂等效落后约 2 dB；30 cm 时 3.44 vs 5.22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同一读码器(9 dB) × 6 种箱型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预测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塑料背壳 6.0/6；金属背壳 0.8–4.4/6 ⇒ 背壳材质是分水岭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66928" y="4828032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4846320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六项里只有 R1/R2 是“已确定”；R3–R6 全为预测，必须用明日实测替换后才可对外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349240"/>
            <a:ext cx="11057839" cy="786384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449824"/>
            <a:ext cx="10692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数值来源与可信度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R3–R6 的数字来自「手册参数 + 参数化模型」：读码器功率/灵敏度、天线增益、标签 −22 dBm 读灵敏度取自厂家手册；箱体/背壳/极化损耗为假设值（25–30 dB）。趋势可用，绝对值必须实测标定。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R1：六种放置方式（3D）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读码器固定在下、天线朝上；只改箱体哪个面朝下（A1–A6）；蓝锥=天线主波束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4_3d_place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53312"/>
            <a:ext cx="6615257" cy="4224528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613648" y="1371600"/>
          <a:ext cx="3008374" cy="2688336"/>
        </p:xfrm>
        <a:graphic>
          <a:graphicData uri="http://schemas.openxmlformats.org/drawingml/2006/table">
            <a:tbl>
              <a:tblPr/>
              <a:tblGrid>
                <a:gridCol w="392396"/>
                <a:gridCol w="1775128"/>
                <a:gridCol w="840850"/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#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朝下的面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B-BOTTOM 底面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5.56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T-TOP 顶面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4.33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F-FRONT 正面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F-BACK 背面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3.67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S-LEFT 左侧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3.33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S-RIGHT 右侧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3.56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8613648" y="4315968"/>
            <a:ext cx="3008376" cy="120700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59952" y="4407408"/>
            <a:ext cx="2743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读码器固定，只换箱体</a:t>
            </a:r>
          </a:p>
          <a:p>
            <a:pPr>
              <a:lnSpc>
                <a:spcPct val="12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六格读码器位置/方向完全一致，只有箱体哪个面朝下不同 —— 变量单一才好归因。</a:t>
            </a:r>
          </a:p>
          <a:p>
            <a:pPr>
              <a:lnSpc>
                <a:spcPct val="120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标签在箱内：正立时离天线 25 cm、侧放 30 cm、侧躺 40 cm，姿态影响本质是距离。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标签在箱内 ⇒ 侧放/侧躺把标签推远 5–15 cm，读全率从 5.6 掉到 3.3–4.9；姿态是第一优先变量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R2：模组选型 —— 目标是「一次过板读全 6 台」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过板时箱子只经过读取区几百毫秒；判据不是“能不能读到”，而是这个窗口内 6/6 的命中概率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4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66928" y="1298448"/>
            <a:ext cx="11057839" cy="548640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371600"/>
            <a:ext cx="10728655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1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一次过板 = 单次盘存窗口内 6 个整机标签全部读到（6/6），不靠重复过板补读 —— 这是选型的唯一硬指标。</a:t>
            </a:r>
          </a:p>
        </p:txBody>
      </p:sp>
      <p:pic>
        <p:nvPicPr>
          <p:cNvPr id="10" name="Picture 9" descr="fig10_hw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956816"/>
            <a:ext cx="5760720" cy="2030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4114800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手册参数（逐条摘自厂家 datasheet / 产品页，未做实测）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1956816"/>
          <a:ext cx="5129783" cy="2450592"/>
        </p:xfrm>
        <a:graphic>
          <a:graphicData uri="http://schemas.openxmlformats.org/drawingml/2006/table">
            <a:tbl>
              <a:tblPr/>
              <a:tblGrid>
                <a:gridCol w="1979916"/>
                <a:gridCol w="1349943"/>
                <a:gridCol w="944960"/>
                <a:gridCol w="854964"/>
              </a:tblGrid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型号（形态）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口数 / 功率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读取率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过板 6/6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Impinj R700（工业读头）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首选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Impinj R420（工业读头）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32.5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1100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满足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RodinBell M-703 / E710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 口 · 33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900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覆盖好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Zebra FX9600（一体机）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4/8 口 · 33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—（−86 dBm）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满足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Kathrein RRU 4560（工业）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 · 33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—（工业级）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✅ 满足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ThingMagic M6e（模块）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 口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750 tags/s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🟡 需实测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Silion SQM5100 / QM100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−79 dBm · 需外置 PA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待定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6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⚠ 先整机实测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66928" y="4389120"/>
            <a:ext cx="1105783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“一次过板读全 6 台”的三个必要条件（缺一项就掉到 5/6）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663440"/>
            <a:ext cx="3566160" cy="98755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736592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① 覆盖（空间）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49743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6 dBi 259×259 / 9 dBi 360×360 都盖不满 600×400 箱面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530352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→ 双天线或偏心安装；本机实测 ant4 最强、ant3 最弱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9392" y="4663440"/>
            <a:ext cx="3566160" cy="98755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25696" y="4736592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② 极化（朝向）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49743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标签长轴固定，侧面照射直接掉 6–10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530352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→ 天线极化与标签轴对齐；9 dBi 波束窄，对位不准反而更差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91855" y="4663440"/>
            <a:ext cx="3566160" cy="98755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4736592"/>
            <a:ext cx="32918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③ 时间（速度）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497433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0.5 s 窗口、每标签≥2 次机会 ⇒ 整机 ≥ 24 tags/s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59" y="5303520"/>
            <a:ext cx="3291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→ 手册读取率是理想值，箱内实测要打七折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选型只看功率会选错：过板读全取决于「覆盖 + 极化 + 读取率」同时达标 —— 缺一项就是 5/6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R3：距离对读取的影响（同一读码器 9 dBi）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上/下/侧三种安装方向 × 0–50 cm 六档；箱型固定 KD-SP（小 Kinder · 塑料背壳）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5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5_3d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98448"/>
            <a:ext cx="5806440" cy="2083522"/>
          </a:xfrm>
          <a:prstGeom prst="rect">
            <a:avLst/>
          </a:prstGeom>
        </p:spPr>
      </p:pic>
      <p:pic>
        <p:nvPicPr>
          <p:cNvPr id="9" name="Picture 8" descr="fig7_distance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280160"/>
            <a:ext cx="4992624" cy="23576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584448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下置六档（产线方向）预测值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858768"/>
          <a:ext cx="5760716" cy="987552"/>
        </p:xfrm>
        <a:graphic>
          <a:graphicData uri="http://schemas.openxmlformats.org/drawingml/2006/table">
            <a:tbl>
              <a:tblPr/>
              <a:tblGrid>
                <a:gridCol w="1002656"/>
                <a:gridCol w="793010"/>
                <a:gridCol w="793010"/>
                <a:gridCol w="793010"/>
                <a:gridCol w="793010"/>
                <a:gridCol w="793010"/>
                <a:gridCol w="793010"/>
              </a:tblGrid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距离 cm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读全数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4.56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RSSI dBm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−33.5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−41.5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−47.5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−53.5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−57.1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−61.5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66928" y="5138928"/>
            <a:ext cx="5760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读全窗口 ≤10 cm；20 cm 起明显掉落，30 cm 约 4.6/6，50 cm 接近一半丢失。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858768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为什么读距落到 cm 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51376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手册级自由空间读距：30 dBm + 6 dBi ≈ 8–10 m，9 dBi ≈ 11–14 m（+3 dB ≈ ×1.41）。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箱壁 + 塑料背壳 + 极化失配合计约 25–30 dB ⇒ 读距 ÷18–31，落到 0.3–0.6 m 量级。</a:t>
            </a:r>
          </a:p>
          <a:p>
            <a:pPr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侧面照射时标签长轴与天线电场正交，极化失配再吃 6–10 dB —— 这是曲线里最陡的一条。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距离是可控变量：把天线面压到 ≤10 cm，读全率稳定；靠“加大功率”补距离的收益远小于压近距离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R4 + R5：不同读码器（9 / 6 dBi）与不同厂家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同一箱型（KD-SP）、同一姿态（A1 下置）、同一距离档位；只改一个变量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6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6_3d_read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280160"/>
            <a:ext cx="6144768" cy="2003210"/>
          </a:xfrm>
          <a:prstGeom prst="rect">
            <a:avLst/>
          </a:prstGeom>
        </p:spPr>
      </p:pic>
      <p:pic>
        <p:nvPicPr>
          <p:cNvPr id="9" name="Picture 8" descr="fig12_pass_wind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2280" y="1389888"/>
            <a:ext cx="4809744" cy="22545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3474720"/>
            <a:ext cx="587044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3D 对比配置（示意模型，按公开尺寸比例建模）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03320"/>
          <a:ext cx="5870446" cy="1828800"/>
        </p:xfrm>
        <a:graphic>
          <a:graphicData uri="http://schemas.openxmlformats.org/drawingml/2006/table">
            <a:tbl>
              <a:tblPr/>
              <a:tblGrid>
                <a:gridCol w="1249031"/>
                <a:gridCol w="1124128"/>
                <a:gridCol w="1124128"/>
                <a:gridCol w="1457203"/>
                <a:gridCol w="915956"/>
              </a:tblGrid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配置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10 cm 读全/6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30 cm 读全/6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0.5 s 过板 6/6（20 cm）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19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 厂 + 9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5.22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99.0%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推荐基线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A 厂 + 6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2.89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79.0%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远档掉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 + 9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3.44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82.7%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勉强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B 厂 + 6 dBi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5.67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18.8%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不可用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812280" y="3703320"/>
            <a:ext cx="480974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按“过板一次读全”看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0.5 s 窗口、20 cm：只有 A 厂 + 9 dBi 达到 99%，其余 79% / 83% / 19%。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30 cm 时 A 厂 + 9 dBi 掉到 68.9%，B 厂 + 9 dBi 只有 10.2% —— 远档靠天线增益，不靠厂家。</a:t>
            </a:r>
          </a:p>
          <a:p>
            <a:pPr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⇒ 选型结论：A 厂 + 9 dBi 作基线；换厂家最多补 2 dB，救不回远档。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以「0.5 s 过板 6/6」为准：A 厂 + 9 dBi 99%，A 厂 + 6 dBi 79%，B 厂 + 6 dBi 仅 19%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R6：同一读码器(9 dBi) × 六种箱型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项目代号见右表；距离固定 10 cm、姿态 A1、厂家 A —— 只有箱型不同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7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fig11_vari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35024"/>
            <a:ext cx="5987845" cy="2651760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1335024"/>
          <a:ext cx="4718304" cy="2560320"/>
        </p:xfrm>
        <a:graphic>
          <a:graphicData uri="http://schemas.openxmlformats.org/drawingml/2006/table">
            <a:tbl>
              <a:tblPr/>
              <a:tblGrid>
                <a:gridCol w="960120"/>
                <a:gridCol w="2660904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代号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箱型 / 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 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KD-SP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 Kinder · 塑料背壳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KD-LP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 Kinder · 塑料背壳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6.00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KD-SM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 Kinder · 金属背壳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KD-LM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 Kinder · 金属背壳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0.78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PT-SM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小平板 · 金属背壳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4.44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PT-LM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大平板 · 金属背壳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2.33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903720" y="4041648"/>
            <a:ext cx="4718304" cy="1481328"/>
          </a:xfrm>
          <a:prstGeom prst="rect">
            <a:avLst/>
          </a:prstGeom>
          <a:solidFill>
            <a:srgbClr val="E6ED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9168" y="4133087"/>
            <a:ext cx="443484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00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结论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塑料背壳（KD-SP / KD-LP）稳定读全，尺寸影响可忽略。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金属背壳把读全数打到 0.8–4.4，大件更差 ⇒ 背壳材质是分水岭，不是距离。</a:t>
            </a:r>
          </a:p>
          <a:p>
            <a:pPr>
              <a:lnSpc>
                <a:spcPct val="125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平板类优于 Kinder（形体薄、遮挡少），但都无法在金属背壳下读全。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若产线要上金属背壳机型：要么改贴标位置（避开金属面），要么在箱外/开口侧增设天线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65760"/>
            <a:ext cx="11057839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明天怎么填：三张表 → 自动出图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77824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填完 CSV 重跑 sim_model.py 即替换全部预测值；表结构已与报告 §4 对齐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66928" y="1207008"/>
            <a:ext cx="1105783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419088"/>
            <a:ext cx="73152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RFID 读取能力评估 · 7H3AA-PALLET · 2026-10-22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93247" y="6419088"/>
            <a:ext cx="7315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8C8C8C"/>
                </a:solidFill>
                <a:latin typeface="Arial"/>
                <a:ea typeface="微软雅黑"/>
                <a:cs typeface="Arial"/>
              </a:rPr>
              <a:t>8 / 8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345936"/>
            <a:ext cx="11057839" cy="0"/>
          </a:xfrm>
          <a:prstGeom prst="line">
            <a:avLst/>
          </a:prstGeom>
          <a:ln w="9525">
            <a:solidFill>
              <a:srgbClr val="ECEC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566928" y="1371600"/>
            <a:ext cx="3566160" cy="181051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46304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A / B 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7190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姿态 + 距离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4825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A_姿态.csv（6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B_距离_9dBi.csv（24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记：读全数/6、读取率、RSSI、拍照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70248" y="1371600"/>
            <a:ext cx="3566160" cy="181051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46304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C 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7190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厂家 × 增益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04825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C_厂家x增益.csv（12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4 配置 × 0/10/30 cm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只改一个变量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73567" y="1371600"/>
            <a:ext cx="3566160" cy="1810512"/>
          </a:xfrm>
          <a:prstGeom prst="rect">
            <a:avLst/>
          </a:prstGeom>
          <a:solidFill>
            <a:srgbClr val="FAFBFC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59" y="1463040"/>
            <a:ext cx="3200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E 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59" y="171907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六种箱型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2048256"/>
            <a:ext cx="3200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E_箱型.csv（6 行）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KD-SP…PT-LM 六个代号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404040"/>
                </a:solidFill>
                <a:latin typeface="Arial"/>
                <a:ea typeface="微软雅黑"/>
                <a:cs typeface="Arial"/>
              </a:rPr>
              <a:t>固定 9 dBi / 10 cm / A1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83280"/>
            <a:ext cx="5760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判定口径（建议，评审确认后固化）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66928" y="3675887"/>
          <a:ext cx="5760720" cy="1645920"/>
        </p:xfrm>
        <a:graphic>
          <a:graphicData uri="http://schemas.openxmlformats.org/drawingml/2006/table">
            <a:tbl>
              <a:tblPr/>
              <a:tblGrid>
                <a:gridCol w="868680"/>
                <a:gridCol w="4892040"/>
              </a:tblGrid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判定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阈值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读全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6/6，30 秒内全部读到且连续 3 箱成立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可用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平均 ≥5.4/6（90%），无箱低于 5/6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临界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平均 4.8–5.4/6，需调姿态或距离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不可用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  <a:ea typeface="微软雅黑"/>
                          <a:cs typeface="Arial"/>
                        </a:rPr>
                        <a:t>平均 &lt;4.8/6，或出现箱级 0 读</a:t>
                      </a:r>
                    </a:p>
                  </a:txBody>
                  <a:tcPr marL="50292" marR="50292" marT="13716" marB="13716" anchor="ctr">
                    <a:lnL w="9525" cap="flat" cmpd="sng" algn="ctr">
                      <a:solidFill>
                        <a:srgbClr val="D9D9D9"/>
                      </a:solidFill>
                      <a:prstDash val="soli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629400" y="3383280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填写纪律（保证数据可用）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3675887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每个档位 ≥30 秒、≥3 箱；拍照必须带面标（F-FRONT / F-BACK）。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厂家/型号/天线增益/天线号 一档不留空 —— 否则归因无效。</a:t>
            </a:r>
          </a:p>
          <a:p>
            <a:pPr>
              <a:lnSpc>
                <a:spcPct val="130000"/>
              </a:lnSpc>
            </a:pPr>
            <a:r>
              <a:rPr sz="950" b="0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箱子尺寸、背壳材质与厚度、箱内是否有金属件，全部记在「场地与标签」表。</a:t>
            </a:r>
          </a:p>
          <a:p>
            <a:pPr>
              <a:lnSpc>
                <a:spcPct val="130000"/>
              </a:lnSpc>
            </a:pPr>
            <a:r>
              <a:rPr sz="950" b="1">
                <a:solidFill>
                  <a:srgbClr val="3E5DA8"/>
                </a:solidFill>
                <a:latin typeface="Arial"/>
                <a:ea typeface="微软雅黑"/>
                <a:cs typeface="Arial"/>
              </a:rPr>
              <a:t>测完 pause 释放 LLRP 会话，否则产线软件停读（实测已发生 5 次）。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5806440"/>
            <a:ext cx="45720" cy="310896"/>
          </a:xfrm>
          <a:prstGeom prst="rect">
            <a:avLst/>
          </a:prstGeom>
          <a:solidFill>
            <a:srgbClr val="3E5D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824727"/>
            <a:ext cx="1087495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A1A1A"/>
                </a:solidFill>
                <a:latin typeface="Arial"/>
                <a:ea typeface="微软雅黑"/>
                <a:cs typeface="Arial"/>
              </a:rPr>
              <a:t>模板在 10_实测框架/；填完把数值贴进 _sim/*.csv 同名文件 → 重跑脚本，8 页全部换成实测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