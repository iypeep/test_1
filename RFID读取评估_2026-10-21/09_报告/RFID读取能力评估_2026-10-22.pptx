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封面。这一版按你重排后的 6 条要求组织：R1 放置方式（3D）、R2 模组类型（手册对比）、R3 距离、R4 增益、R5 厂家、R6 箱型。关键前提说清楚：除 R1/R2 是已确定内容，R3–R6 的数值都是手册参数推算 + 模型预测，明天实测替换。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先给判定总表。被问“数据哪来的”就指向底部说明：功率/灵敏度/增益/标签 −22 dBm 来自厂家手册，箱体与背壳损耗是假设值，所以只保证趋势、不保证绝对值。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R6。六个箱型用项目代号。塑料背壳两类都 6/6；金属背壳直接掉到 0.8–4.4；平板类比 Kinder 略好但同样救不回来。若产线要上金属背壳，改贴标位置或在开口侧加天线。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框架。三张 CSV：A/B（姿态+距离 30 行）、C（厂家×增益 12 行）、E（箱型 6 行）。填完贴回 _sim 同名文件重跑脚本，8 页图与表全部换实测值。纪律三条：≥30 秒 ≥3 箱、参数不留空、测完 pause。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这一页是今天新增的实测基线，也是全场最硬的一页。数据不是探针测的，是机台自己日志回溯 31 天：Rfid_&lt;日期&gt;.log 每箱一条 readStatus，EpcLog 每次读取都有时间戳和 DSN，按箱处理窗口（约 3 秒）对齐就能算“这箱读到几个”。结论：95% 的箱一个整机标签都没有，读全 6 个的 31 天只有 158 箱。要强调两点：一是失败不阻断放行，所以产线上看不见；二是 6 台/箱 是 MES 报文，不等于读到 6 个。如果被问“为什么一直没人发现”，答案是程序既不停线也不报警，只看产量是正常的。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机型口径页。旧的 Kinder 与 KD/PT 代号是早期猜测，机台日志里根本没有，今天作废。改成 HQ代码-背壳：7907-P/M、8252-P/M、7771-M、7513-M；客户代码按事业部对照表，MES 配置名可交叉验证。背壳材质有直接证据：CongfigSize 里写 (Metal)/(Plastic)，AX8252 两种都在产，所以同机型要分开看。AX6727 那行数字明显异常，先记录，不建议当结论。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773936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Arial"/>
                <a:ea typeface="微软雅黑"/>
                <a:cs typeface="Arial"/>
              </a:rPr>
              <a:t>华勤 · MD5 / MBD3MD3 · 线体 7H3PK1 · 工位「自动扫描称重」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79806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六项要求 · 3D 示意 · 现网实测基线（P9–P10）+ 距离/箱型预测（待现场实测替换）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352958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675887"/>
            <a:ext cx="8412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  7H3AA-PALLET      版本  V1.3（+ 现网实测基线）      2026-10-22      设备工程</a:t>
            </a:r>
          </a:p>
          <a:p>
            <a:pPr>
              <a:lnSpc>
                <a:spcPct val="160000"/>
              </a:lnSpc>
            </a:pPr>
            <a:r>
              <a:rPr sz="1050" b="0">
                <a:solidFill>
                  <a:srgbClr val="5A6472"/>
                </a:solidFill>
                <a:latin typeface="Arial"/>
                <a:ea typeface="微软雅黑"/>
                <a:cs typeface="Arial"/>
              </a:rPr>
              <a:t>P9–P10 为机台日志回溯的实测值；其余为手册参数推算 + 模型预测；现场按 P8 模板填表后重出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六项要求 × 当前判定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结论先行：每条给结论、给依据类型；标注“预测”的都不是实测值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2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17320"/>
          <a:ext cx="11057837" cy="3200400"/>
        </p:xfrm>
        <a:graphic>
          <a:graphicData uri="http://schemas.openxmlformats.org/drawingml/2006/table">
            <a:tbl>
              <a:tblPr/>
              <a:tblGrid>
                <a:gridCol w="478694"/>
                <a:gridCol w="3398729"/>
                <a:gridCol w="957388"/>
                <a:gridCol w="6223026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要求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 / 依据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放置方式：6 个面分别作底面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3D 已出图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A1–A6 六姿态；防爆标识在正面、条码+6 序列号在背面（Blender 渲染）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可挑选的 RFID 模组类型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手册已比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类形态 + 6 家品牌手册参数 + 产品图（图源见页脚）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距离（9 dB，上/下/侧）对读取的影响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读全窗口 ≤10 cm；50 cm 掉到 1.9/6；侧面照射最差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不同读码器：9 dB 与 6 dB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cm：9 dBi 5.22/6 vs 6 dBi 2.89/6 ⇒ 差约 2.3 个标签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不同厂家（×2）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厂等效落后约 2 dB；30 cm 时 3.44 vs 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同一读码器(9 dB) × 6 种箱型（按机型口径）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塑料背壳 6.0/6；金属背壳 0.8–4.4/6 ⇒ 背壳材质是分水岭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828032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846320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R1/R2 已确定；P9–P10 的现网基线是实测；R3–R6 仍是预测，须现场实测后才可对外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349240"/>
            <a:ext cx="1105783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49824"/>
            <a:ext cx="10692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数值来源与可信度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R3–R6 的数字来自「手册参数 + 参数化模型」：读码器功率/灵敏度、天线增益、标签 −22 dBm 读灵敏度取自厂家手册；箱体/背壳/极化损耗为假设值（25–30 dB）。趋势可用，绝对值必须实测标定。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R1：六种放置方式（3D）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读码器固定在下、天线朝上；只改箱体哪个面朝下（A1–A6）；蓝锥=天线主波束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4_3d_plac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53312"/>
            <a:ext cx="6615257" cy="422452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13648" y="1371600"/>
          <a:ext cx="3008374" cy="2688336"/>
        </p:xfrm>
        <a:graphic>
          <a:graphicData uri="http://schemas.openxmlformats.org/drawingml/2006/table">
            <a:tbl>
              <a:tblPr/>
              <a:tblGrid>
                <a:gridCol w="392396"/>
                <a:gridCol w="1775128"/>
                <a:gridCol w="840850"/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3.67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右侧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613648" y="4315968"/>
            <a:ext cx="3008376" cy="120700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9952" y="4407408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读码器固定，只换箱体</a:t>
            </a:r>
          </a:p>
          <a:p>
            <a:pPr>
              <a:lnSpc>
                <a:spcPct val="12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六格读码器位置/方向完全一致，只有箱体哪个面朝下不同 —— 变量单一才好归因。</a:t>
            </a:r>
          </a:p>
          <a:p>
            <a:pPr>
              <a:lnSpc>
                <a:spcPct val="12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标签在箱内：正立时离天线 25 cm、侧放 30 cm、侧躺 40 cm，姿态影响本质是距离。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标签在箱内 ⇒ 侧放/侧躺把标签推远 5–15 cm，读全率从 5.6 掉到 3.3–4.9；姿态是第一优先变量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—— 目标是「一次过板读全 6 台」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过板时箱子只经过读取区几百毫秒；判据不是“能不能读到”，而是这个窗口内 6/6 的命中概率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4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928" y="1298448"/>
            <a:ext cx="11057839" cy="548640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865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一次过板 = 单次盘存窗口内 6 个整机标签全部读到（6/6），不靠重复过板补读 —— 这是选型的唯一硬指标。</a:t>
            </a:r>
          </a:p>
        </p:txBody>
      </p:sp>
      <p:pic>
        <p:nvPicPr>
          <p:cNvPr id="10" name="Picture 9" descr="fig10_hw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56816"/>
            <a:ext cx="5760720" cy="203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11480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手册参数（逐条摘自厂家 datasheet / 产品页，未做实测）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1956816"/>
          <a:ext cx="5129783" cy="2450592"/>
        </p:xfrm>
        <a:graphic>
          <a:graphicData uri="http://schemas.openxmlformats.org/drawingml/2006/table">
            <a:tbl>
              <a:tblPr/>
              <a:tblGrid>
                <a:gridCol w="1979916"/>
                <a:gridCol w="1349943"/>
                <a:gridCol w="944960"/>
                <a:gridCol w="854964"/>
              </a:tblGrid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/ 功率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R700（工业读头）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首选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R420（工业读头）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满足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RodinBell M-703 / E710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覆盖好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Zebra FX9600（一体机）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—（−86 dBm）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满足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Kathrein RRU 4560（工业）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—（工业级）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满足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ThingMagic M6e（模块）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🟡 需实测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Silion SQM5100 / QM100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 · 需外置 PA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⚠ 先整机实测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66928" y="438912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“一次过板读全 6 台”的三个必要条件（缺一项就掉到 5/6）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63440"/>
            <a:ext cx="3566160" cy="98755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73659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① 覆盖（空间）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9743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6 dBi 259×259 / 9 dBi 360×360 都盖不满 600×400 箱面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303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→ 双天线或偏心安装；本机实测 ant4 最强、ant3 最弱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9392" y="4663440"/>
            <a:ext cx="3566160" cy="98755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5696" y="473659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② 极化（朝向）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49743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标签长轴固定，侧面照射直接掉 6–10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5303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→ 天线极化与标签轴对齐；9 dBi 波束窄，对位不准反而更差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5" y="4663440"/>
            <a:ext cx="3566160" cy="98755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473659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③ 时间（速度）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9743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0.5 s 窗口、每标签≥2 次机会 ⇒ 整机 ≥ 24 tags/s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59" y="5303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→ 手册读取率是理想值，箱内实测要打七折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选型只看功率会选错：过板读全取决于「覆盖 + 极化 + 读取率」同时达标 —— 缺一项就是 5/6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R3：距离对读取的影响（同一读码器 9 dBi）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上/下/侧三种安装方向 × 0–50 cm 六档；箱型固定 7907-P（AX7907 · 6″ · 塑料）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5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5_3d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5806440" cy="2083522"/>
          </a:xfrm>
          <a:prstGeom prst="rect">
            <a:avLst/>
          </a:prstGeom>
        </p:spPr>
      </p:pic>
      <p:pic>
        <p:nvPicPr>
          <p:cNvPr id="9" name="Picture 8" descr="fig7_distanc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280160"/>
            <a:ext cx="4992624" cy="23576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584448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下置六档（产线方向）预测值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5760716" cy="987552"/>
        </p:xfrm>
        <a:graphic>
          <a:graphicData uri="http://schemas.openxmlformats.org/drawingml/2006/table">
            <a:tbl>
              <a:tblPr/>
              <a:tblGrid>
                <a:gridCol w="1002656"/>
                <a:gridCol w="793010"/>
                <a:gridCol w="793010"/>
                <a:gridCol w="793010"/>
                <a:gridCol w="793010"/>
                <a:gridCol w="793010"/>
                <a:gridCol w="793010"/>
              </a:tblGrid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 cm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读全数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RSSI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−33.5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−41.5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−47.5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−53.5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−57.1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−61.5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5138928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读全窗口 ≤10 cm；20 cm 起明显掉落，30 cm 约 4.6/6，50 cm 接近一半丢失。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5876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为什么读距落到 cm 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51376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手册级自由空间读距：30 dBm + 6 dBi ≈ 8–10 m，9 dBi ≈ 11–14 m（+3 dB ≈ ×1.41）。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箱壁 + 塑料背壳 + 极化失配合计约 25–30 dB ⇒ 读距 ÷18–31，落到 0.3–0.6 m 量级。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侧面照射时标签长轴与天线电场正交，极化失配再吃 6–10 dB —— 这是曲线里最陡的一条。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距离是可控变量：把天线面压到 ≤10 cm，读全率稳定；靠“加大功率”补距离的收益远小于压近距离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 + R5：不同读码器（9 / 6 dBi）与不同厂家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同一箱型（7907-P）、同一姿态（A1 下置）、同一距离档位；只改一个变量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6_3d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6144768" cy="2003210"/>
          </a:xfrm>
          <a:prstGeom prst="rect">
            <a:avLst/>
          </a:prstGeom>
        </p:spPr>
      </p:pic>
      <p:pic>
        <p:nvPicPr>
          <p:cNvPr id="9" name="Picture 8" descr="fig12_pass_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389888"/>
            <a:ext cx="4809744" cy="22545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474720"/>
            <a:ext cx="58704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3D 对比配置（示意模型，按公开尺寸比例建模）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03320"/>
          <a:ext cx="5870446" cy="1828800"/>
        </p:xfrm>
        <a:graphic>
          <a:graphicData uri="http://schemas.openxmlformats.org/drawingml/2006/table">
            <a:tbl>
              <a:tblPr/>
              <a:tblGrid>
                <a:gridCol w="1249031"/>
                <a:gridCol w="1124128"/>
                <a:gridCol w="1124128"/>
                <a:gridCol w="1457203"/>
                <a:gridCol w="915956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配置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 读全/6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 读全/6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0.5 s 过板 6/6（20 cm）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+ 9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99.0%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推荐基线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+ 6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79.0%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远档掉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+ 9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82.7%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勉强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+ 6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5.67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18.8%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12280" y="3703320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按“过板一次读全”看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0.5 s 窗口、20 cm：只有 A 厂 + 9 dBi 达到 99%，其余 79% / 83% / 19%。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30 cm 时 A 厂 + 9 dBi 掉到 68.9%，B 厂 + 9 dBi 只有 10.2% —— 远档靠天线增益，不靠厂家。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⇒ 选型结论：A 厂 + 9 dBi 作基线；换厂家最多补 2 dB，救不回远档。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以「0.5 s 过板 6/6」为准：A 厂 + 9 dBi 99%，A 厂 + 6 dBi 79%，B 厂 + 6 dBi 仅 19%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R6：同一读码器(9 dBi) × 六种箱型（按机型口径）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代号＝HQ代码-背壳（客户代码见 P10）；距离 10 cm、姿态 A1、厂家 A —— 只有箱型不同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7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11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35024"/>
            <a:ext cx="5874668" cy="265175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1335024"/>
          <a:ext cx="4718304" cy="2560320"/>
        </p:xfrm>
        <a:graphic>
          <a:graphicData uri="http://schemas.openxmlformats.org/drawingml/2006/table">
            <a:tbl>
              <a:tblPr/>
              <a:tblGrid>
                <a:gridCol w="960120"/>
                <a:gridCol w="266090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7907-P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塑料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塑料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0.78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7771-M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AX7771 · 8″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7513-M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AX7513 · 11″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4041648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4133087"/>
            <a:ext cx="4434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塑料背壳（7907-P / 8252-P）稳定读全，尺寸影响可忽略。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金属背壳把读全数打到 0.8–4.4，大件更差 ⇒ 背壳材质是分水岭，不是距离。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平板类（7771/7513）优于 e-reader（形体薄、遮挡少），但都无法在金属背壳下读全。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明天怎么填：三张表 → 自动出图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填完 CSV 重跑 sim_model.py 即替换全部预测值；表结构已与报告 §4 对齐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8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928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A / B 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姿态 + 距离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A_姿态.csv（6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B_距离_9dBi.csv（24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记：读全数/6、读取率、RSSI、拍照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C 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厂家 × 增益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C_厂家x增益.csv（12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4 配置 × 0/10/30 cm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只改一个变量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E 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六种箱型（按机型口径）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E_箱型.csv（6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7907-P…7513-M 六个代号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固定 9 dBi / 10 cm / A1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判定口径（建议，评审确认后固化）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3675887"/>
          <a:ext cx="5760720" cy="1645920"/>
        </p:xfrm>
        <a:graphic>
          <a:graphicData uri="http://schemas.openxmlformats.org/drawingml/2006/table">
            <a:tbl>
              <a:tblPr/>
              <a:tblGrid>
                <a:gridCol w="868680"/>
                <a:gridCol w="4892040"/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阈值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6/6，30 秒内全部读到且连续 3 箱成立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≥5.4/6（90%），无箱低于 5/6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临界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4.8–5.4/6，需调姿态或距离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&lt;4.8/6，或出现箱级 0 读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29400" y="3383280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填写纪律（保证数据可用）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675887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每个档位 ≥30 秒、≥3 箱；拍照必须带面标（F-FRONT / F-BACK）。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厂家/型号/天线增益/天线号 一档不留空 —— 否则归因无效。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箱子尺寸、背壳材质与厚度、箱内是否有金属件，全部记在「场地与标签」表。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测完 pause 释放 LLRP 会话，否则产线软件停读（实测已发生 5 次）。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模板在 10_实测框架/；填完把数值贴进 _sim/*.csv 同名文件 → 重跑脚本，8 页全部换成实测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现网实测基线：95% 的箱一个整机标签都没读到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机台自身日志回溯 31 天（2026-09-22 → 10-22）；Rfid_&lt;日期&gt;.log 逐箱 readStatus × EpcLog 逐次读取 —— 实测，不是模型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9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133502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95.0%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55648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一箱读到 0 个整机标签（108,017 / 113,667 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93391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RFID 环节目前是“形式执行”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133502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0.14%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1755648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真正读全 6 个（158 箱）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993391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一箱 6 台，标签全读到几乎不发生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33502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8.6%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755648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程序 readStatus=True（逐日 6.9–10.5%）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1993391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失败不阻断放行 ⇒ 产线上看不见</a:t>
            </a:r>
          </a:p>
        </p:txBody>
      </p:sp>
      <p:pic>
        <p:nvPicPr>
          <p:cNvPr id="17" name="Picture 16" descr="fig13_prod_rea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87168"/>
            <a:ext cx="5669280" cy="190793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66928" y="2487168"/>
          <a:ext cx="5257800" cy="1975104"/>
        </p:xfrm>
        <a:graphic>
          <a:graphicData uri="http://schemas.openxmlformats.org/drawingml/2006/table">
            <a:tbl>
              <a:tblPr/>
              <a:tblGrid>
                <a:gridCol w="2286000"/>
                <a:gridCol w="2971800"/>
              </a:tblGrid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指标（31 天）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值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一箱读到 0 个整机标签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108,017 箱 = 95.0%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1 / 2 / 6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3,997 / 972 / 158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窗口内 ≥1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4.9%（±10 s 口径 9.0%）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158 箱 = 0.14%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正常日标签读取次数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250–550 次/日（过箱 3,000–5,200）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66928" y="4864608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三条解读</a:t>
            </a:r>
          </a:p>
          <a:p>
            <a:pPr>
              <a:lnSpc>
                <a:spcPct val="125000"/>
              </a:lnSpc>
            </a:pPr>
            <a:r>
              <a:rPr sz="919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① 不是“偶尔漏一个”，是几乎完全不读：95% 的箱窗口内 0 个标签。</a:t>
            </a:r>
          </a:p>
          <a:p>
            <a:pPr>
              <a:lnSpc>
                <a:spcPct val="125000"/>
              </a:lnSpc>
            </a:pPr>
            <a:r>
              <a:rPr sz="919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② 失败不阻断：readStatus=False 后照常 Weight Flow，无报警、不停线。</a:t>
            </a:r>
          </a:p>
          <a:p>
            <a:pPr>
              <a:lnSpc>
                <a:spcPct val="125000"/>
              </a:lnSpc>
            </a:pPr>
            <a:r>
              <a:rPr sz="919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③ “6 台/箱”来自 MES 报文（BoxQty=6），与 RFID 读到几个无关，两者长期被混为一谈。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870448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888736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现网基线已实测：先修“读不到”与“失败不阻断”，再谈距离/增益/厂家——否则改造收益无法验证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机型口径：HQ 代码 / 客户代码 / 尺寸·品类（附 31 天实测）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客户口径取自事业部机型对照表；MES CongfigSize 可交叉验证（Prosexxx / Amaxxx / Julxxx 为脱敏写法）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10 / 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53312"/>
          <a:ext cx="11064240" cy="2368296"/>
        </p:xfrm>
        <a:graphic>
          <a:graphicData uri="http://schemas.openxmlformats.org/drawingml/2006/table">
            <a:tbl>
              <a:tblPr/>
              <a:tblGrid>
                <a:gridCol w="1131570"/>
                <a:gridCol w="2095500"/>
                <a:gridCol w="1969770"/>
                <a:gridCol w="838200"/>
                <a:gridCol w="1257300"/>
                <a:gridCol w="1424940"/>
                <a:gridCol w="1299210"/>
                <a:gridCol w="1047750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HQ代码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客户代码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尺寸 / 品类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窗口 0 标签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Prosecco/Marsala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99.1%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0.01%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Sangria/Seabreeze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40.5%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2.12%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95.2%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AX7771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Roselite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inch tablet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本线未生产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AX7513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Turquoise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 inch tablet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本线未生产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931920"/>
            <a:ext cx="6812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口径更正（今天定的）</a:t>
            </a:r>
          </a:p>
          <a:p>
            <a:pPr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「Kinder」在机台日志里一次都没出现，是早期猜测 —— 作废；旧代号 KD-SP/LP/SM/LM、PT-SM/LM 一并作废。</a:t>
            </a:r>
          </a:p>
          <a:p>
            <a:pPr>
              <a:lnSpc>
                <a:spcPct val="130000"/>
              </a:lnSpc>
            </a:pPr>
            <a:r>
              <a:rPr sz="9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新代号＝HQ代码-背壳：7907-P / 7907-M / 8252-P / 8252-M / 7771-M / 7513-M。</a:t>
            </a:r>
          </a:p>
          <a:p>
            <a:pPr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背壳材质不是猜的：MES CongfigSize 直接写 (Metal)/(Plastic)，AX8252 两种都在产。</a:t>
            </a:r>
          </a:p>
          <a:p>
            <a:pPr>
              <a:lnSpc>
                <a:spcPct val="130000"/>
              </a:lnSpc>
            </a:pPr>
            <a:r>
              <a:rPr sz="900" b="0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AX6727（Sangria/Seabreeze）读全 2.12%、均值 1.02，明显偏离其余机型 —— 记为异常，先查贴标/工位。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931920"/>
            <a:ext cx="4041648" cy="1828800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4041648"/>
            <a:ext cx="371246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数据来源与边界</a:t>
            </a:r>
          </a:p>
          <a:p>
            <a:pPr>
              <a:lnSpc>
                <a:spcPct val="130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箱数＝31 天有 SSCC 且有 readStatus 的箱（94,284 个 SSCC 可映射机型）。</a:t>
            </a:r>
          </a:p>
          <a:p>
            <a:pPr>
              <a:lnSpc>
                <a:spcPct val="130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readStatus 判定口径仍需程序方确认（是否＝读到指定标签、RfidCheckFullOrSingle=2 的含义）。</a:t>
            </a:r>
          </a:p>
          <a:p>
            <a:pPr>
              <a:lnSpc>
                <a:spcPct val="130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逐台对号做不到：箱内 6 台条码不会同时出现在同一窗口。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70448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88736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对外一律用「HQ代码 + 客户代码 + 尺寸/品类」三件套标注机型，不再用 Kinder/大小 这类无法核对的写法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