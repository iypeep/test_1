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封面。这一版按你重排后的 6 条要求组织：R1 放置方式（3D）、R2 模组类型（手册对比）、R3 距离、R4 增益、R5 厂家、R6 箱型。关键前提说清楚：除 R1/R2 是已确定内容，R3–R6 的数值都是手册参数推算 + 模型预测，明天实测替换。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先给判定总表。被问“数据哪来的”就指向底部说明：功率/灵敏度/增益/标签 −22 dBm 来自厂家手册，箱体与背壳损耗是假设值，所以只保证趋势、不保证绝对值。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R6。六个箱型用项目代号。塑料背壳两类都 6/6；金属背壳直接掉到 0.8–4.4；平板类比 Kinder 略好但同样救不回来。若产线要上金属背壳，改贴标位置或在开口侧加天线。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框架。三张 CSV：A/B（姿态+距离 30 行）、C（厂家×增益 12 行）、E（箱型 6 行）。填完贴回 _sim 同名文件重跑脚本，8 页图与表全部换实测值。纪律三条：≥30 秒 ≥3 箱、参数不留空、测完 pause。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77393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Arial"/>
                <a:ea typeface="微软雅黑"/>
                <a:cs typeface="Arial"/>
              </a:rPr>
              <a:t>华勤 · MD5 / MBD3MD3 · 线体 7H3PK1 · 工位「自动扫描称重」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79806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六项要求 · 3D 示意 · 距离与箱型读取结果（模型预测版，待实测替换）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352958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675887"/>
            <a:ext cx="8412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  7H3AA-PALLET      版本  V1.2（框架 + 预测数据）      2026-10-22      设备工程</a:t>
            </a:r>
          </a:p>
          <a:p>
            <a:pPr>
              <a:lnSpc>
                <a:spcPct val="160000"/>
              </a:lnSpc>
            </a:pPr>
            <a:r>
              <a:rPr sz="1050" b="0">
                <a:solidFill>
                  <a:srgbClr val="5A6472"/>
                </a:solidFill>
                <a:latin typeface="Arial"/>
                <a:ea typeface="微软雅黑"/>
                <a:cs typeface="Arial"/>
              </a:rPr>
              <a:t>封面起全部数值：手册参数推算 + 参数化模型预测，非实测；明日按 P8 模板填表后重出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六项要求 × 当前判定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结论先行：每条给结论、给依据类型；标注“预测”的都不是实测值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2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17320"/>
          <a:ext cx="11057837" cy="3200400"/>
        </p:xfrm>
        <a:graphic>
          <a:graphicData uri="http://schemas.openxmlformats.org/drawingml/2006/table">
            <a:tbl>
              <a:tblPr/>
              <a:tblGrid>
                <a:gridCol w="478694"/>
                <a:gridCol w="3398729"/>
                <a:gridCol w="957388"/>
                <a:gridCol w="6223026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要求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 / 依据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放置方式：6 个面分别作底面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3D 已出图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A1–A6 六姿态；防爆标识在正面、条码+6 序列号在背面（Blender 渲染）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可挑选的 RFID 模组类型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手册已比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类形态 + 6 家品牌手册参数 + 产品图（图源见页脚）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距离（9 dB，上/下/侧）对读取的影响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读全窗口 ≤10 cm；50 cm 掉到 1.9/6；侧面照射最差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不同读码器：9 dB 与 6 dB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cm：9 dBi 5.22/6 vs 6 dBi 2.89/6 ⇒ 差约 2.3 个标签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不同厂家（×2）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厂等效落后约 2 dB；30 cm 时 3.44 vs 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同一读码器(9 dB) × 6 种箱型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塑料背壳 6.0/6；金属背壳 0.8–4.4/6 ⇒ 背壳材质是分水岭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828032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846320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六项里只有 R1/R2 是“已确定”；R3–R6 全为预测，必须用明日实测替换后才可对外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349240"/>
            <a:ext cx="1105783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49824"/>
            <a:ext cx="10692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数值来源与可信度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R3–R6 的数字来自「手册参数 + 参数化模型」：读码器功率/灵敏度、天线增益、标签 −22 dBm 读灵敏度取自厂家手册；箱体/背壳/极化损耗为假设值（25–30 dB）。趋势可用，绝对值必须实测标定。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R1：六种放置方式（3D）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读码器固定在下、天线朝上；只改箱体哪个面朝下（A1–A6）；蓝锥=天线主波束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4_3d_plac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53312"/>
            <a:ext cx="6615257" cy="422452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13648" y="1371600"/>
          <a:ext cx="3008374" cy="2688336"/>
        </p:xfrm>
        <a:graphic>
          <a:graphicData uri="http://schemas.openxmlformats.org/drawingml/2006/table">
            <a:tbl>
              <a:tblPr/>
              <a:tblGrid>
                <a:gridCol w="392396"/>
                <a:gridCol w="1775128"/>
                <a:gridCol w="840850"/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右侧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613648" y="4315968"/>
            <a:ext cx="3008376" cy="120700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9952" y="4407408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读码器固定，只换箱体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六格读码器位置/方向完全一致，只有箱体哪个面朝下不同 —— 变量单一才好归因。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标签在箱内：正立时离天线 25 cm、侧放 30 cm、侧躺 40 cm，姿态影响本质是距离。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 ⇒ 侧放/侧躺把标签推远 5–15 cm，读全率从 5.6 掉到 3.3–4.9；姿态是第一优先变量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R2：可挑选的 RFID 模组类型（手册参数对比）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先定形态再定型号；下表参数均来自厂家 datasheet / 产品页，未做实测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4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10_hw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6053328" cy="2133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584448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四种形态（本项目＝工业读头 / 分体式）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3858768"/>
          <a:ext cx="6053326" cy="1737360"/>
        </p:xfrm>
        <a:graphic>
          <a:graphicData uri="http://schemas.openxmlformats.org/drawingml/2006/table">
            <a:tbl>
              <a:tblPr/>
              <a:tblGrid>
                <a:gridCol w="1421614"/>
                <a:gridCol w="1696766"/>
                <a:gridCol w="293494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形态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接口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适用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嵌入式模组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UART / SPI / USB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自研设备集成，需硬件能力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工业读头（分体）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以太网 / RS485 / GPIO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产线固定安装（本项目）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一体机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以太网 / 串口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近距离单点读取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手持 / PDA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蓝牙 / WiFi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抽检、盘点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059168" y="129844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代表性型号 · 手册参数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059168" y="1572768"/>
          <a:ext cx="4562855" cy="2706624"/>
        </p:xfrm>
        <a:graphic>
          <a:graphicData uri="http://schemas.openxmlformats.org/drawingml/2006/table">
            <a:tbl>
              <a:tblPr/>
              <a:tblGrid>
                <a:gridCol w="1874519"/>
                <a:gridCol w="2688336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/ 功率 / 速率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R700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 · 1100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R420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 · −84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RodinBell M-703 (E710)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 · 900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ThingMagic M6e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750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Zebra FX9600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· −86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Kathrein RRU 4560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Silion SQM5100 (QM100)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 灵敏度 · 需外置 PA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059168" y="4160520"/>
            <a:ext cx="45628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选型要点</a:t>
            </a:r>
          </a:p>
          <a:p>
            <a:pPr>
              <a:lnSpc>
                <a:spcPct val="13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读距由「输出功率 + 天线增益 + 接收灵敏度」三者共同决定，单看功率会误判。</a:t>
            </a:r>
          </a:p>
          <a:p>
            <a:pPr>
              <a:lnSpc>
                <a:spcPct val="13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国产方案（QM100 类）片内 PA 仅 4 dBm，必须核对整机外置功放后的实测读取率。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同厂（Impinj 体系）替换兼容性最好，先做基线；国产方案用于降本，必须实测标定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R3：距离对读取的影响（同一读码器 9 dBi）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上/下/侧三种安装方向 × 0–50 cm 六档；箱型固定 KD-SP（小 Kinder · 塑料背壳）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5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5_3d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5806440" cy="2083522"/>
          </a:xfrm>
          <a:prstGeom prst="rect">
            <a:avLst/>
          </a:prstGeom>
        </p:spPr>
      </p:pic>
      <p:pic>
        <p:nvPicPr>
          <p:cNvPr id="9" name="Picture 8" descr="fig7_distanc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280160"/>
            <a:ext cx="4992624" cy="23576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584448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下置六档（产线方向）预测值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5760716" cy="987552"/>
        </p:xfrm>
        <a:graphic>
          <a:graphicData uri="http://schemas.openxmlformats.org/drawingml/2006/table">
            <a:tbl>
              <a:tblPr/>
              <a:tblGrid>
                <a:gridCol w="1002656"/>
                <a:gridCol w="793010"/>
                <a:gridCol w="793010"/>
                <a:gridCol w="793010"/>
                <a:gridCol w="793010"/>
                <a:gridCol w="793010"/>
                <a:gridCol w="793010"/>
              </a:tblGrid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读全数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RSSI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−33.5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−47.5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−57.1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−61.5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138928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读全窗口 ≤10 cm；20 cm 起明显掉落，30 cm 约 4.6/6，50 cm 接近一半丢失。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为什么读距落到 cm 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51376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手册级自由空间读距：30 dBm + 6 dBi ≈ 8–10 m，9 dBi ≈ 11–14 m（+3 dB ≈ ×1.41）。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箱壁 + 塑料背壳 + 极化失配合计约 25–30 dB ⇒ 读距 ÷18–31，落到 0.3–0.6 m 量级。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侧面照射时标签长轴与天线电场正交，极化失配再吃 6–10 dB —— 这是曲线里最陡的一条。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距离是可控变量：把天线面压到 ≤10 cm，读全率稳定；靠“加大功率”补距离的收益远小于压近距离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 + R5：不同读码器（9 / 6 dBi）与不同厂家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同一箱型（KD-SP）、同一姿态（A1 下置）、同一距离档位；只改一个变量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6_3d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6144768" cy="2003210"/>
          </a:xfrm>
          <a:prstGeom prst="rect">
            <a:avLst/>
          </a:prstGeom>
        </p:spPr>
      </p:pic>
      <p:pic>
        <p:nvPicPr>
          <p:cNvPr id="9" name="Picture 8" descr="fig8_vendor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371600"/>
            <a:ext cx="4809744" cy="23297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74720"/>
            <a:ext cx="58704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3D 对比配置（示意模型，按公开尺寸比例建模）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67328"/>
          <a:ext cx="5870446" cy="1645920"/>
        </p:xfrm>
        <a:graphic>
          <a:graphicData uri="http://schemas.openxmlformats.org/drawingml/2006/table">
            <a:tbl>
              <a:tblPr/>
              <a:tblGrid>
                <a:gridCol w="1729279"/>
                <a:gridCol w="819132"/>
                <a:gridCol w="819132"/>
                <a:gridCol w="819132"/>
                <a:gridCol w="1683771"/>
              </a:tblGrid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配置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推荐基线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远档明显掉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等效落后约 2 dB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不满足远档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12280" y="3767328"/>
            <a:ext cx="48097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读法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 cm 四种配置都 6/6；10 cm 时 B 厂 + 6 dBi 已掉到 5.67。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30 cm 拉开差距：9 dBi 比 6 dBi，A 厂多 2.33 个、B 厂多 1.44 个标签。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⇒ 要么压距离，要么上 A 厂 + 9 dBi；只换厂家不换增益救不了远档。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天线增益（+3 dB）比换厂家（≈2 dB）更划算，且改造最小 —— 优先换天线，其次同厂换代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R6：同一读码器(9 dBi) × 六种箱型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项目代号见右表；距离固定 10 cm、姿态 A1、厂家 A —— 只有箱型不同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7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11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35024"/>
            <a:ext cx="5987845" cy="265176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1335024"/>
          <a:ext cx="4718304" cy="2560320"/>
        </p:xfrm>
        <a:graphic>
          <a:graphicData uri="http://schemas.openxmlformats.org/drawingml/2006/table">
            <a:tbl>
              <a:tblPr/>
              <a:tblGrid>
                <a:gridCol w="960120"/>
                <a:gridCol w="266090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KD-SP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 Kinder · 塑料背壳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KD-LP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 Kinder · 塑料背壳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KD-SM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 Kinder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KD-LM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 Kinder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0.78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PT-SM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PT-LM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4041648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4133087"/>
            <a:ext cx="4434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塑料背壳（KD-SP / KD-LP）稳定读全，尺寸影响可忽略。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金属背壳把读全数打到 0.8–4.4，大件更差 ⇒ 背壳材质是分水岭，不是距离。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平板类优于 Kinder（形体薄、遮挡少），但都无法在金属背壳下读全。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明天怎么填：三张表 → 自动出图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填完 CSV 重跑 sim_model.py 即替换全部预测值；表结构已与报告 §4 对齐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8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A / B 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姿态 + 距离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A_姿态.csv（6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B_距离_9dBi.csv（24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记：读全数/6、读取率、RSSI、拍照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C 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 × 增益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C_厂家x增益.csv（12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4 配置 × 0/10/30 cm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只改一个变量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E 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六种箱型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E_箱型.csv（6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KD-SP…PT-LM 六个代号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固定 9 dBi / 10 cm / A1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判定口径（建议，评审确认后固化）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3675887"/>
          <a:ext cx="5760720" cy="1645920"/>
        </p:xfrm>
        <a:graphic>
          <a:graphicData uri="http://schemas.openxmlformats.org/drawingml/2006/table">
            <a:tbl>
              <a:tblPr/>
              <a:tblGrid>
                <a:gridCol w="868680"/>
                <a:gridCol w="4892040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阈值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6/6，30 秒内全部读到且连续 3 箱成立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≥5.4/6（90%），无箱低于 5/6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临界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4.8–5.4/6，需调姿态或距离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&lt;4.8/6，或出现箱级 0 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29400" y="3383280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填写纪律（保证数据可用）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675887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每个档位 ≥30 秒、≥3 箱；拍照必须带面标（F-FRONT / F-BACK）。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厂家/型号/天线增益/天线号 一档不留空 —— 否则归因无效。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箱子尺寸、背壳材质与厚度、箱内是否有金属件，全部记在「场地与标签」表。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测完 pause 释放 LLRP 会话，否则产线软件停读（实测已发生 5 次）。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模板在 10_实测框架/；填完把数值贴进 _sim/*.csv 同名文件 → 重跑脚本，8 页全部换成实测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