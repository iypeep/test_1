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6" r:id="rId18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封面。这一版按你重排后的 6 条要求组织：R1 放置方式（3D）、R2 模组类型（手册对比）、R3 距离、R4 增益、R5 厂家、R6 箱型。关键前提说清楚：除 R1/R2 是已确定内容，R3–R6 的数值都是手册参数推算 + 模型预测，明天实测替换。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先给判定总表。被问“数据哪来的”就指向底部说明：功率/灵敏度/增益/标签 −22 dBm 来自厂家手册，箱体与背壳损耗是假设值，所以只保证趋势、不保证绝对值。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R1。六种姿态用 Blender 渲染，蓝锥是天线主波束。要点：正面/背面同为长×高，靠防爆标识与条码面区分；A1 是本线实际姿态，其余作为对照。标签在箱内，箱面只有条码与序列号 —— 这句话能挡住“为什么不读箱面标签”的追问。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R2。产品图来自厂家页面/datasheet，参数照抄手册：R700 33 dBm/4 口、R420 32.5 dBm/−84 dBm、M-703 8 口 900 tags/s、M6e 750 tags/s、FX9600 33 dBm/−86 dBm、RRU 4560 33 dBm、SQM5100（QM100）−79 dBm 需外置 PA。提醒：国产方案片内 PA 只有 4 dBm，整机功率靠外置功放，必须实测。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R3。距离是主要变量：0–10 cm 稳读全，20 cm 起掉，50 cm 只剩 1.9/6。为什么手册说 8–14 m 而这里只有 cm 级：箱壁+塑料背壳+极化失配吃掉 25–30 dB，读距除以 18–31。侧面照射最差，因为标签长轴与天线电场正交。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R4+R5。近距（≤10 cm）四种配置都 6/6，差异在远档显现：30 cm 时 9 dBi 比 6 dBi 多 2.3 个标签，A 厂比 B 厂多约 2 dB。结论：先换天线，再考虑换厂家。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R6。六个箱型用项目代号。塑料背壳两类都 6/6；金属背壳直接掉到 0.8–4.4；平板类比 Kinder 略好但同样救不回来。若产线要上金属背壳，改贴标位置或在开口侧加天线。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框架。三张 CSV：A/B（姿态+距离 30 行）、C（厂家×增益 12 行）、E（箱型 6 行）。填完贴回 _sim 同名文件重跑脚本，8 页图与表全部换实测值。纪律三条：≥30 秒 ≥3 箱、参数不留空、测完 pause。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这一页是今天新增的实测基线，也是全场最硬的一页。数据不是探针测的，是机台自己日志回溯 31 天：Rfid_&lt;日期&gt;.log 每箱一条 readStatus，EpcLog 每次读取都有时间戳和 DSN，按箱处理窗口（约 3 秒）对齐就能算“这箱读到几个”。结论：95% 的箱一个整机标签都没有，读全 6 个的 31 天只有 158 箱。要强调两点：一是失败不阻断放行，所以产线上看不见；二是 6 台/箱 是 MES 报文，不等于读到 6 个。如果被问“为什么一直没人发现”，答案是程序既不停线也不报警，只看产量是正常的。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机型口径页。旧的 Kinder 与 KD/PT 代号是早期猜测，机台日志里根本没有，今天作废。改成 HQ代码-背壳：7907-P/M、8252-P/M、7771-M、7513-M；客户代码按事业部对照表，MES 配置名可交叉验证。背壳材质有直接证据：CongfigSize 里写 (Metal)/(Plastic)，AX8252 两种都在产，所以同机型要分开看。AX6727 那行数字明显异常，先记录，不建议当结论。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这页回答全场一定会被问的那句：既然 P5–P7 的模型说近距离能读全 6 个，为什么现网 95% 读 0？答案在数据形态上：95% 的箱窗口内 0 次读取，命中的那 5% 箱却平均 18 次读取，而且只读到 1–2 个标签 —— 读取是双峰的，说明多数箱根本没被盘存，而不是射频弱到读不到。第二点，readStatus=True 的 8.6% 与窗口内真读到标签的 4.9% 不是同一批，说明 readStatus 判的不是“读到任意标签”，语义要找程序方确认。第三点，命中的箱反复读同一两个标签，说明剩下的标签被位置/遮挡/极化挡住了。所以下一步不是买读码器，是 40 分钟做三组对照：贴一片已知好标签、rfidmon 手动触发一次、去掉金属背壳再读。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5.xml"/><Relationship Id="rId5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1828800"/>
            <a:ext cx="54864" cy="1572768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8096" y="1773936"/>
            <a:ext cx="8686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95959"/>
                </a:solidFill>
                <a:latin typeface="Arial"/>
                <a:ea typeface="微软雅黑"/>
                <a:cs typeface="Arial"/>
              </a:rPr>
              <a:t>华勤 · MD5 / MBD3MD3 · 线体 7H3PK1 · 工位「自动扫描称重」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84831"/>
            <a:ext cx="9601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262626"/>
                </a:solidFill>
                <a:latin typeface="Arial"/>
                <a:ea typeface="微软雅黑"/>
                <a:cs typeface="Arial"/>
              </a:rPr>
              <a:t>RFID 读取能力评估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79806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六项要求 · 3D 示意 · 现网实测基线（P9–P11）+ 距离/箱型预测（待现场实测替换）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8096" y="3529584"/>
            <a:ext cx="4206240" cy="0"/>
          </a:xfrm>
          <a:prstGeom prst="line">
            <a:avLst/>
          </a:prstGeom>
          <a:ln w="12700">
            <a:solidFill>
              <a:srgbClr val="A9BA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68096" y="3675887"/>
            <a:ext cx="84124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60000"/>
              </a:lnSpc>
            </a:pPr>
            <a:r>
              <a:rPr sz="1200" b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站点  7H3AA-PALLET      版本  V1.3（+ 现网实测基线）      2026-10-22      设备工程</a:t>
            </a:r>
          </a:p>
          <a:p>
            <a:pPr>
              <a:lnSpc>
                <a:spcPct val="160000"/>
              </a:lnSpc>
            </a:pPr>
            <a:r>
              <a:rPr sz="1050" b="0">
                <a:solidFill>
                  <a:srgbClr val="5A6472"/>
                </a:solidFill>
                <a:latin typeface="Arial"/>
                <a:ea typeface="微软雅黑"/>
                <a:cs typeface="Arial"/>
              </a:rPr>
              <a:t>P9–P11 为机台日志回溯的实测值；其余为手册参数推算 + 模型预测；现场按 P8 模板填表后重出 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9855" y="619963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6A7A8C"/>
                </a:solidFill>
                <a:latin typeface="Arial"/>
                <a:ea typeface="微软雅黑"/>
                <a:cs typeface="Arial"/>
              </a:rPr>
              <a:t>资料：Impinj / Kathrein / Zebra / MagicRF 手册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六项要求 × 当前判定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结论先行：每条给结论、给依据类型；标注“预测”的都不是实测值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417320"/>
          <a:ext cx="11057837" cy="3200400"/>
        </p:xfrm>
        <a:graphic>
          <a:graphicData uri="http://schemas.openxmlformats.org/drawingml/2006/table">
            <a:tbl>
              <a:tblPr/>
              <a:tblGrid>
                <a:gridCol w="478694"/>
                <a:gridCol w="3398729"/>
                <a:gridCol w="957388"/>
                <a:gridCol w="6223026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#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要求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判定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结论 / 依据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R1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放置方式：6 个面分别作底面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3D 已出图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A1–A6 六姿态；防爆标识在正面、条码+6 序列号在背面（Blender 渲染）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R2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可挑选的 RFID 模组类型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手册已比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类形态 + 6 家品牌手册参数 + 产品图（图源见页脚）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R3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距离（9 dB，上/下/侧）对读取的影响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预测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读全窗口 ≤10 cm；50 cm 掉到 1.9/6；侧面照射最差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R4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不同读码器：9 dB 与 6 dB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预测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 cm：9 dBi 5.22/6 vs 6 dBi 2.89/6 ⇒ 差约 2.3 个标签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R5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不同厂家（×2）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预测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B 厂等效落后约 2 dB；30 cm 时 3.44 vs 5.22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同一读码器(9 dB) × 6 种箱型（按机型口径）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预测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塑料背壳 6.0/6；金属背壳 0.8–4.4/6 ⇒ 背壳材质是分水岭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828032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4846320"/>
            <a:ext cx="108749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R1/R2 已确定；P9–P11 的现网基线是实测；R3–R6 仍是预测，须现场实测后才可对外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349240"/>
            <a:ext cx="11057839" cy="786384"/>
          </a:xfrm>
          <a:prstGeom prst="rect">
            <a:avLst/>
          </a:prstGeom>
          <a:solidFill>
            <a:srgbClr val="FAFBF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449824"/>
            <a:ext cx="106920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数值来源与可信度</a:t>
            </a:r>
          </a:p>
          <a:p>
            <a:pPr>
              <a:lnSpc>
                <a:spcPct val="125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R3–R6 的数字来自「手册参数 + 参数化模型」：读码器功率/灵敏度、天线增益、标签 −22 dBm 读灵敏度取自厂家手册；箱体/背壳/极化损耗为假设值（25–30 dB）。趋势可用，绝对值必须实测标定。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19088"/>
            <a:ext cx="7315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93247" y="6419088"/>
            <a:ext cx="731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R1：六种放置方式（3D）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读码器固定在下、天线朝上；只改箱体哪个面朝下（A1–A6）；蓝锥=天线主波束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fig4_3d_placem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53312"/>
            <a:ext cx="6615257" cy="422452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613648" y="1371600"/>
          <a:ext cx="3008374" cy="2688336"/>
        </p:xfrm>
        <a:graphic>
          <a:graphicData uri="http://schemas.openxmlformats.org/drawingml/2006/table">
            <a:tbl>
              <a:tblPr/>
              <a:tblGrid>
                <a:gridCol w="392396"/>
                <a:gridCol w="1775128"/>
                <a:gridCol w="840850"/>
              </a:tblGrid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#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朝下的面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读全 /6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A1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B-BOTTOM 底面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5.56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A2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T-TOP 顶面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4.33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A3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F-FRONT 正面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4.89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A4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F-BACK 背面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3.67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A5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S-LEFT 左侧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3.33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S-RIGHT 右侧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3.56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8613648" y="4315968"/>
            <a:ext cx="3008376" cy="1207008"/>
          </a:xfrm>
          <a:prstGeom prst="rect">
            <a:avLst/>
          </a:prstGeom>
          <a:solidFill>
            <a:srgbClr val="E6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59952" y="4407408"/>
            <a:ext cx="27432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读码器固定，只换箱体</a:t>
            </a:r>
          </a:p>
          <a:p>
            <a:pPr>
              <a:lnSpc>
                <a:spcPct val="12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六格读码器位置/方向完全一致，只有箱体哪个面朝下不同 —— 变量单一才好归因。</a:t>
            </a:r>
          </a:p>
          <a:p>
            <a:pPr>
              <a:lnSpc>
                <a:spcPct val="12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标签在箱内：正立时离天线 25 cm、侧放 30 cm、侧躺 40 cm，姿态影响本质是距离。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806440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824727"/>
            <a:ext cx="108749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标签在箱内 ⇒ 侧放/侧躺把标签推远 5–15 cm，读全率从 5.6 掉到 3.3–4.9；姿态是第一优先变量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7315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247" y="6419088"/>
            <a:ext cx="731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R2：模组选型 —— 目标是「一次过板读全 6 台」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过板时箱子只经过读取区几百毫秒；判据不是“能不能读到”，而是这个窗口内 6/6 的命中概率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298448"/>
            <a:ext cx="11057839" cy="548640"/>
          </a:xfrm>
          <a:prstGeom prst="rect">
            <a:avLst/>
          </a:prstGeom>
          <a:solidFill>
            <a:srgbClr val="E6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71600"/>
            <a:ext cx="10728655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11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一次过板 = 单次盘存窗口内 6 个整机标签全部读到（6/6），不靠重复过板补读 —— 这是选型的唯一硬指标。</a:t>
            </a:r>
          </a:p>
        </p:txBody>
      </p:sp>
      <p:pic>
        <p:nvPicPr>
          <p:cNvPr id="10" name="Picture 9" descr="fig10_hw_mod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956816"/>
            <a:ext cx="5760720" cy="2030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66928" y="4114800"/>
            <a:ext cx="5760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手册参数（逐条摘自厂家 datasheet / 产品页，未做实测）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92240" y="1956816"/>
          <a:ext cx="5129783" cy="2450592"/>
        </p:xfrm>
        <a:graphic>
          <a:graphicData uri="http://schemas.openxmlformats.org/drawingml/2006/table">
            <a:tbl>
              <a:tblPr/>
              <a:tblGrid>
                <a:gridCol w="1979916"/>
                <a:gridCol w="1349943"/>
                <a:gridCol w="944960"/>
                <a:gridCol w="854964"/>
              </a:tblGrid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型号（形态）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口数 / 功率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读取率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过板 6/6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Impinj R700（工业读头）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33 dBm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1100 tags/s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✅ 首选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Impinj R420（工业读头）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32.5 dBm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1100 tags/s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✅ 满足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RodinBell M-703 / E710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 口 · 33 dBm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900 tags/s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✅ 覆盖好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Zebra FX9600（一体机）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4/8 口 · 33 dBm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—（−86 dBm）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✅ 满足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Kathrein RRU 4560（工业）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 · 33 dBm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—（工业级）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✅ 满足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ThingMagic M6e（模块）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 口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750 tags/s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🟡 需实测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Silion SQM5100 / QM100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−79 dBm · 需外置 PA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待定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⚠ 先整机实测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66928" y="438912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“一次过板读全 6 台”的三个必要条件（缺一项就掉到 5/6）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663440"/>
            <a:ext cx="3566160" cy="987552"/>
          </a:xfrm>
          <a:prstGeom prst="rect">
            <a:avLst/>
          </a:prstGeom>
          <a:solidFill>
            <a:srgbClr val="FAFBF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73659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① 覆盖（空间）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974336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6 dBi 259×259 / 9 dBi 360×360 都盖不满 600×400 箱面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303520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→ 双天线或偏心安装；本机实测 ant4 最强、ant3 最弱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4663440"/>
            <a:ext cx="3566160" cy="987552"/>
          </a:xfrm>
          <a:prstGeom prst="rect">
            <a:avLst/>
          </a:prstGeom>
          <a:solidFill>
            <a:srgbClr val="FAFBF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25696" y="473659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② 极化（朝向）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25696" y="4974336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标签长轴固定，侧面照射直接掉 6–10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25696" y="5303520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→ 天线极化与标签轴对齐；9 dBi 波束窄，对位不准反而更差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91855" y="4663440"/>
            <a:ext cx="3566160" cy="987552"/>
          </a:xfrm>
          <a:prstGeom prst="rect">
            <a:avLst/>
          </a:prstGeom>
          <a:solidFill>
            <a:srgbClr val="FAFBF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59" y="473659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③ 时间（速度）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9" y="4974336"/>
            <a:ext cx="3291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0.5 s 窗口、每标签≥2 次机会 ⇒ 整机 ≥ 24 tags/s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9" y="5303520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→ 手册读取率是理想值，箱内实测要打七折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806440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5824727"/>
            <a:ext cx="108749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选型只看功率会选错：过板读全取决于「覆盖 + 极化 + 读取率」同时达标 —— 缺一项就是 5/6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19088"/>
            <a:ext cx="7315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93247" y="6419088"/>
            <a:ext cx="731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R3：读到几个与距离没有相关性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6_sub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手册/自由空间模型没错（10 cm 理论上仍读全 6 个）；但现场三面天线 &lt;5 cm 实测 0.08/6、10-19 中箱接触式最多 2/6 —— 距离 0→20 cm 读数都在 0–2，读不到不是距离/衰减造成的</a:t>
            </a:r>
          </a:p>
        </p:txBody>
      </p:sp>
      <p:sp>
        <p:nvSpPr>
          <p:cNvPr id="9" name="S6_stat0_8"/>
          <p:cNvSpPr txBox="1"/>
          <p:nvPr/>
        </p:nvSpPr>
        <p:spPr>
          <a:xfrm>
            <a:off x="566928" y="1280160"/>
            <a:ext cx="301752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6.00 / 6</a:t>
            </a:r>
          </a:p>
        </p:txBody>
      </p:sp>
      <p:sp>
        <p:nvSpPr>
          <p:cNvPr id="10" name="S6_stat0_9"/>
          <p:cNvSpPr txBox="1"/>
          <p:nvPr/>
        </p:nvSpPr>
        <p:spPr>
          <a:xfrm>
            <a:off x="566928" y="1645919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理论（下置 9 dBi）：0–10 cm 应读全</a:t>
            </a:r>
          </a:p>
        </p:txBody>
      </p:sp>
      <p:sp>
        <p:nvSpPr>
          <p:cNvPr id="11" name="S6_stat0_0"/>
          <p:cNvSpPr txBox="1"/>
          <p:nvPr/>
        </p:nvSpPr>
        <p:spPr>
          <a:xfrm>
            <a:off x="566928" y="1847088"/>
            <a:ext cx="301752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按手册参数，近距本来就该读得到</a:t>
            </a:r>
          </a:p>
        </p:txBody>
      </p:sp>
      <p:sp>
        <p:nvSpPr>
          <p:cNvPr id="12" name="S6_stat1_1"/>
          <p:cNvSpPr txBox="1"/>
          <p:nvPr/>
        </p:nvSpPr>
        <p:spPr>
          <a:xfrm>
            <a:off x="3566160" y="1280160"/>
            <a:ext cx="274320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0.08 / 6</a:t>
            </a:r>
          </a:p>
        </p:txBody>
      </p:sp>
      <p:sp>
        <p:nvSpPr>
          <p:cNvPr id="13" name="S6_stat1_2"/>
          <p:cNvSpPr txBox="1"/>
          <p:nvPr/>
        </p:nvSpPr>
        <p:spPr>
          <a:xfrm>
            <a:off x="3566160" y="1645919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实测（产线 3 天线 &lt;5 cm，31 天 113,667 箱）</a:t>
            </a:r>
          </a:p>
        </p:txBody>
      </p:sp>
      <p:sp>
        <p:nvSpPr>
          <p:cNvPr id="14" name="S6_stat1_3"/>
          <p:cNvSpPr txBox="1"/>
          <p:nvPr/>
        </p:nvSpPr>
        <p:spPr>
          <a:xfrm>
            <a:off x="3566160" y="1847088"/>
            <a:ext cx="274320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95.0% 一箱读到 0 个；10-19 中箱接触式也只有 0–2</a:t>
            </a:r>
          </a:p>
        </p:txBody>
      </p:sp>
      <p:sp>
        <p:nvSpPr>
          <p:cNvPr id="15" name="S6_cap"/>
          <p:cNvSpPr txBox="1"/>
          <p:nvPr/>
        </p:nvSpPr>
        <p:spPr>
          <a:xfrm>
            <a:off x="566928" y="2542032"/>
            <a:ext cx="5943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同一台读码器：理论该读到多少 vs 实际读到多少</a:t>
            </a:r>
          </a:p>
        </p:txBody>
      </p:sp>
      <p:graphicFrame>
        <p:nvGraphicFramePr>
          <p:cNvPr id="16" name="S6_table"/>
          <p:cNvGraphicFramePr>
            <a:graphicFrameLocks noGrp="1"/>
          </p:cNvGraphicFramePr>
          <p:nvPr/>
        </p:nvGraphicFramePr>
        <p:xfrm>
          <a:off x="566928" y="2798064"/>
          <a:ext cx="5943600" cy="2112264"/>
        </p:xfrm>
        <a:graphic>
          <a:graphicData uri="http://schemas.openxmlformats.org/drawingml/2006/table">
            <a:tbl>
              <a:tblPr/>
              <a:tblGrid>
                <a:gridCol w="1234440"/>
                <a:gridCol w="1645920"/>
                <a:gridCol w="1828800"/>
                <a:gridCol w="1234440"/>
              </a:tblGrid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距离 cm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理论 读全 /6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实测 读全 /6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3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差值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接触式（10-19 中箱）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6.00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0–2（8 次）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−4 ~ −6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&lt;5（产线贴装）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6.00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0.08（31 天）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−5.9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E6ED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6.00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未逐档实测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5.89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未逐档实测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4.56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未逐档实测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50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1.89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未逐档实测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6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45720" marR="45720" marT="9144" marB="9144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6_concl"/>
          <p:cNvSpPr txBox="1"/>
          <p:nvPr/>
        </p:nvSpPr>
        <p:spPr>
          <a:xfrm>
            <a:off x="566928" y="5029200"/>
            <a:ext cx="59436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</a:pPr>
            <a:r>
              <a:rPr sz="98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结论：读到数量与距离无相关（相关性≈0）</a:t>
            </a:r>
          </a:p>
          <a:p>
            <a:pPr>
              <a:lnSpc>
                <a:spcPct val="12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近距（贴住、&lt;5 cm）并不比远距好；反过来说，把距离压得更近、或加大功率，都换不来读数。</a:t>
            </a:r>
          </a:p>
          <a:p>
            <a:pPr>
              <a:lnSpc>
                <a:spcPct val="12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⇒ 损失发生在距离之外：箱内金属件屏蔽与相互遮挡、标签朝向/极化、过板窗口与程序判定口径。10–50 cm 的逐档实测仍缺（A/B 组），但现有三处观测已足以排除“距离不够近”这一解释。</a:t>
            </a:r>
          </a:p>
        </p:txBody>
      </p:sp>
      <p:pic>
        <p:nvPicPr>
          <p:cNvPr id="18" name="S6_fig" descr="fig7c_distance_vs_read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280160"/>
            <a:ext cx="5486400" cy="2631989"/>
          </a:xfrm>
          <a:prstGeom prst="rect">
            <a:avLst/>
          </a:prstGeom>
        </p:spPr>
      </p:pic>
      <p:sp>
        <p:nvSpPr>
          <p:cNvPr id="19" name="S6_figcap"/>
          <p:cNvSpPr txBox="1"/>
          <p:nvPr/>
        </p:nvSpPr>
        <p:spPr>
          <a:xfrm>
            <a:off x="6446520" y="4160520"/>
            <a:ext cx="5212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灰虚线＝手册模型（未改动，随距离正常衰减）；红色＝实测（0.08/6 与 0–2/6）；灰底＝尚未逐档实测的 10–50 cm。</a:t>
            </a:r>
          </a:p>
        </p:txBody>
      </p:sp>
      <p:sp>
        <p:nvSpPr>
          <p:cNvPr id="20" name="S6_bar"/>
          <p:cNvSpPr/>
          <p:nvPr/>
        </p:nvSpPr>
        <p:spPr>
          <a:xfrm>
            <a:off x="566928" y="6016752"/>
            <a:ext cx="45720" cy="27432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6_take"/>
          <p:cNvSpPr txBox="1"/>
          <p:nvPr/>
        </p:nvSpPr>
        <p:spPr>
          <a:xfrm>
            <a:off x="713232" y="6025896"/>
            <a:ext cx="10874959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别再拿「压距离 / 加功率」当主线：0→20 cm 读数不变，要动的是金属屏蔽、标签朝向与读码窗口。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19088"/>
            <a:ext cx="7315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93247" y="6419088"/>
            <a:ext cx="731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R4 + R5：不同读码器（9 / 6 dBi）与不同厂家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同一箱型（7907-P）、同一姿态（A1 下置）、同一距离档位；只改一个变量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fig6_3d_rea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80160"/>
            <a:ext cx="6144768" cy="2003210"/>
          </a:xfrm>
          <a:prstGeom prst="rect">
            <a:avLst/>
          </a:prstGeom>
        </p:spPr>
      </p:pic>
      <p:pic>
        <p:nvPicPr>
          <p:cNvPr id="9" name="Picture 8" descr="fig12_pass_win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389888"/>
            <a:ext cx="4809744" cy="22545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" y="3474720"/>
            <a:ext cx="587044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3D 对比配置（示意模型，按公开尺寸比例建模）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3703320"/>
          <a:ext cx="5870446" cy="1828800"/>
        </p:xfrm>
        <a:graphic>
          <a:graphicData uri="http://schemas.openxmlformats.org/drawingml/2006/table">
            <a:tbl>
              <a:tblPr/>
              <a:tblGrid>
                <a:gridCol w="1249031"/>
                <a:gridCol w="1124128"/>
                <a:gridCol w="1124128"/>
                <a:gridCol w="1457203"/>
                <a:gridCol w="915956"/>
              </a:tblGrid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配置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 cm 读全/6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30 cm 读全/6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0.5 s 过板 6/6（20 cm）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判定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 厂 + 9 dBi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6.00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5.22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99.0%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推荐基线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 厂 + 6 dBi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6.00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2.89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79.0%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远档掉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B 厂 + 9 dBi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6.00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3.44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82.7%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勉强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B 厂 + 6 dBi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5.67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2.00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18.8%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不可用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812280" y="3703320"/>
            <a:ext cx="480974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按“过板一次读全”看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0.5 s 窗口、20 cm：只有 A 厂 + 9 dBi 达到 99%，其余 79% / 83% / 19%。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30 cm 时 A 厂 + 9 dBi 掉到 68.9%，B 厂 + 9 dBi 只有 10.2% —— 远档靠天线增益，不靠厂家。</a:t>
            </a:r>
          </a:p>
          <a:p>
            <a:pPr>
              <a:lnSpc>
                <a:spcPct val="13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⇒ 选型结论：A 厂 + 9 dBi 作基线；换厂家最多补 2 dB，救不回远档。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806440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5824727"/>
            <a:ext cx="108749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以「0.5 s 过板 6/6」为准：A 厂 + 9 dBi 99%，A 厂 + 6 dBi 79%，B 厂 + 6 dBi 仅 19%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19088"/>
            <a:ext cx="7315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93247" y="6419088"/>
            <a:ext cx="731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R6：同一读码器(9 dBi) × 六种箱型（按机型口径）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代号＝HQ代码-背壳（客户代码见 P11）；距离 10 cm、姿态 A1、厂家 A —— 只有箱型不同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fig11_varia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335024"/>
            <a:ext cx="5874668" cy="2651759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03720" y="1335024"/>
          <a:ext cx="4718304" cy="2560320"/>
        </p:xfrm>
        <a:graphic>
          <a:graphicData uri="http://schemas.openxmlformats.org/drawingml/2006/table">
            <a:tbl>
              <a:tblPr/>
              <a:tblGrid>
                <a:gridCol w="960120"/>
                <a:gridCol w="2660904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代号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箱型 / 背壳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读全 /6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7907-P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 · 6″ · 塑料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6.00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8252-P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 · 7″ · 塑料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6.00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7907-M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 · 6″ · 金属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2.44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8252-M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 · 7″ · 金属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0.78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7771-M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AX7771 · 8″ · 金属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4.44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7513-M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AX7513 · 11″ · 金属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2.33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903720" y="4041648"/>
            <a:ext cx="4718304" cy="1481328"/>
          </a:xfrm>
          <a:prstGeom prst="rect">
            <a:avLst/>
          </a:prstGeom>
          <a:solidFill>
            <a:srgbClr val="E6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59168" y="4133087"/>
            <a:ext cx="443484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结论</a:t>
            </a:r>
          </a:p>
          <a:p>
            <a:pPr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塑料背壳（7907-P / 8252-P）稳定读全，尺寸影响可忽略。</a:t>
            </a:r>
          </a:p>
          <a:p>
            <a:pPr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金属背壳把读全数打到 0.8–4.4，大件更差 ⇒ 背壳材质是分水岭，不是距离。</a:t>
            </a:r>
          </a:p>
          <a:p>
            <a:pPr>
              <a:lnSpc>
                <a:spcPct val="125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平板类（7771/7513）优于 e-reader（形体薄、遮挡少），但都无法在金属背壳下读全。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806440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824727"/>
            <a:ext cx="108749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若产线要上金属背壳机型：要么改贴标位置（避开金属面），要么在箱外/开口侧增设天线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7315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247" y="6419088"/>
            <a:ext cx="731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明天怎么填：三张表 → 自动出图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填完 CSV 重跑 sim_model.py 即替换全部预测值；表结构已与报告 §4 对齐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566928" y="1371600"/>
            <a:ext cx="3566160" cy="1810512"/>
          </a:xfrm>
          <a:prstGeom prst="rect">
            <a:avLst/>
          </a:prstGeom>
          <a:solidFill>
            <a:srgbClr val="FAFBF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A / B 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1907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姿态 + 距离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48256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A_姿态.csv（6 行）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B_距离_9dBi.csv（24 行）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记：读全数/6、读取率、RSSI、拍照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0248" y="1371600"/>
            <a:ext cx="3566160" cy="1810512"/>
          </a:xfrm>
          <a:prstGeom prst="rect">
            <a:avLst/>
          </a:prstGeom>
          <a:solidFill>
            <a:srgbClr val="FAFBF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63040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C 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71907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厂家 × 增益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48256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C_厂家x增益.csv（12 行）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4 配置 × 0/10/30 cm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只改一个变量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73567" y="1371600"/>
            <a:ext cx="3566160" cy="1810512"/>
          </a:xfrm>
          <a:prstGeom prst="rect">
            <a:avLst/>
          </a:prstGeom>
          <a:solidFill>
            <a:srgbClr val="FAFBF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59" y="1463040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E 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1719072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六种箱型（按机型口径）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2048256"/>
            <a:ext cx="32004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E_箱型.csv（6 行）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7907-P…7513-M 六个代号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404040"/>
                </a:solidFill>
                <a:latin typeface="Arial"/>
                <a:ea typeface="微软雅黑"/>
                <a:cs typeface="Arial"/>
              </a:rPr>
              <a:t>固定 9 dBi / 10 cm / A1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383280"/>
            <a:ext cx="5760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判定口径（建议，评审确认后固化）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" y="3675887"/>
          <a:ext cx="5760720" cy="1645920"/>
        </p:xfrm>
        <a:graphic>
          <a:graphicData uri="http://schemas.openxmlformats.org/drawingml/2006/table">
            <a:tbl>
              <a:tblPr/>
              <a:tblGrid>
                <a:gridCol w="868680"/>
                <a:gridCol w="4892040"/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判定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阈值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读全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6/6，30 秒内全部读到且连续 3 箱成立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可用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平均 ≥5.4/6（90%），无箱低于 5/6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临界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平均 4.8–5.4/6，需调姿态或距离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不可用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平均 &lt;4.8/6，或出现箱级 0 读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629400" y="3383280"/>
            <a:ext cx="4937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填写纪律（保证数据可用）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675887"/>
            <a:ext cx="49377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每个档位 ≥30 秒、≥3 箱；拍照必须带面标（F-FRONT / F-BACK）。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厂家/型号/天线增益/天线号 一档不留空 —— 否则归因无效。</a:t>
            </a:r>
          </a:p>
          <a:p>
            <a:pPr>
              <a:lnSpc>
                <a:spcPct val="130000"/>
              </a:lnSpc>
            </a:pPr>
            <a:r>
              <a:rPr sz="95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箱子尺寸、背壳材质与厚度、箱内是否有金属件，全部记在「场地与标签」表。</a:t>
            </a:r>
          </a:p>
          <a:p>
            <a:pPr>
              <a:lnSpc>
                <a:spcPct val="130000"/>
              </a:lnSpc>
            </a:pPr>
            <a:r>
              <a:rPr sz="95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测完 pause 释放 LLRP 会话，否则产线软件停读（实测已发生 5 次）。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5806440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5824727"/>
            <a:ext cx="108749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模板在 10_实测框架/；填完把数值贴进 _sim/*.csv 同名文件 → 重跑脚本，8 页全部换成实测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19088"/>
            <a:ext cx="7315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93247" y="6419088"/>
            <a:ext cx="731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现网实测基线：95% 的箱一个整机标签都没读到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机台自身日志回溯 31 天（2026-09-22 → 10-22）；Rfid_&lt;日期&gt;.log 逐箱 readStatus × EpcLog 逐次读取 —— 实测，不是模型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1335024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95.0%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755648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一箱读到 0 个整机标签（108,017 / 113,667 箱）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93391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RFID 环节目前是“形式执行”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24528" y="1335024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0.14%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24528" y="1755648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真正读全 6 个（158 箱）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4528" y="1993391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一箱 6 台，标签全读到几乎不发生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7" y="1335024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8.6%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7" y="1755648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程序 readStatus=True（逐日 6.9–10.5%）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1993391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失败不阻断放行 ⇒ 产线上看不见</a:t>
            </a:r>
          </a:p>
        </p:txBody>
      </p:sp>
      <p:pic>
        <p:nvPicPr>
          <p:cNvPr id="17" name="Picture 16" descr="fig13_prod_rea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487168"/>
            <a:ext cx="5669280" cy="190793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566928" y="2487168"/>
          <a:ext cx="5257800" cy="1975104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</a:tblGrid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指标（31 天）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0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值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一箱读到 0 个整机标签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108,017 箱 = 95.0%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读到 1 / 2 / 6 个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3,997 / 972 / 158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窗口内 ≥1 个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4.9%（±10 s 口径 9.0%）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读全 6 个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158 箱 = 0.14%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正常日标签读取次数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19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250–550 次/日（过箱 3,000–5,200）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66928" y="4864608"/>
            <a:ext cx="52578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三条解读</a:t>
            </a:r>
          </a:p>
          <a:p>
            <a:pPr>
              <a:lnSpc>
                <a:spcPct val="12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① 不是“偶尔漏一个”，是几乎完全不读：95% 的箱窗口内 0 个标签。</a:t>
            </a:r>
          </a:p>
          <a:p>
            <a:pPr>
              <a:lnSpc>
                <a:spcPct val="12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② 失败不阻断：readStatus=False 后照常 Weight Flow，无报警、不停线。</a:t>
            </a:r>
          </a:p>
          <a:p>
            <a:pPr>
              <a:lnSpc>
                <a:spcPct val="125000"/>
              </a:lnSpc>
            </a:pPr>
            <a:r>
              <a:rPr sz="919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③ “6 台/箱”来自 MES 报文（BoxQty=6），与 RFID 读到几个无关，两者长期被混为一谈。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5870448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888736"/>
            <a:ext cx="108749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现网基线已实测：先修“读不到”与“失败不阻断”，再谈距离/增益/厂家——否则改造收益无法验证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19088"/>
            <a:ext cx="7315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93247" y="6419088"/>
            <a:ext cx="731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95% 读 0 的归因：不是读不到，是绝大多数箱没被盘存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同一批 31 天数据拆开看：95% 的箱 0 次读取；命中的 5% 箱平均 18 次，却只读到 1–2 个标签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66928" y="1316736"/>
            <a:ext cx="3401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0.08 /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737360"/>
            <a:ext cx="34015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31 天 113,667 箱的平均读到标签数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75104"/>
            <a:ext cx="34015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不是“偶尔漏一个”，是绝大多数箱几乎不读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316736"/>
            <a:ext cx="34015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5C7ED4"/>
                </a:solidFill>
                <a:latin typeface="Arial"/>
                <a:ea typeface="微软雅黑"/>
                <a:cs typeface="Arial"/>
              </a:rPr>
              <a:t>18.1 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1737360"/>
            <a:ext cx="34015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命中箱（5,605 箱）的平均读取事件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1975104"/>
            <a:ext cx="3401568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一旦被盘存就反复读 —— 双峰，不是均匀漏读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1316736"/>
            <a:ext cx="391363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4.9% ≠ 8.6%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737360"/>
            <a:ext cx="391363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窗口内 ≥1 标签 5,605 箱 vs readStatus=True 9,782 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975104"/>
            <a:ext cx="39136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4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readStatus 判的不是“这个窗口读到任意标签”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2377440"/>
            <a:ext cx="5532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三种解释（不互斥）与手上的证据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651760"/>
            <a:ext cx="5532120" cy="932688"/>
          </a:xfrm>
          <a:prstGeom prst="rect">
            <a:avLst/>
          </a:prstGeom>
          <a:solidFill>
            <a:srgbClr val="FAFBF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734056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A  触发 / 到位判定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962656"/>
            <a:ext cx="5212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95% 的箱在窗口内 0 次读取；命中的箱却平均 18 次</a:t>
            </a:r>
          </a:p>
          <a:p>
            <a:pPr algn="l">
              <a:lnSpc>
                <a:spcPct val="12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⇒ 更像“箱没进入盘存”，不是“弱到读不到”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657600"/>
            <a:ext cx="5532120" cy="932688"/>
          </a:xfrm>
          <a:prstGeom prst="rect">
            <a:avLst/>
          </a:prstGeom>
          <a:solidFill>
            <a:srgbClr val="FAFBF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739896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B  readStatus 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968496"/>
            <a:ext cx="5212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窗口内 ≥1 标签 4.9%、readStatus=True 8.6%，两组既不等也不互相包含</a:t>
            </a:r>
          </a:p>
          <a:p>
            <a:pPr algn="l">
              <a:lnSpc>
                <a:spcPct val="12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⇒ 它判的是指定标签 / 读全条件，需程序方确认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663440"/>
            <a:ext cx="5532120" cy="932688"/>
          </a:xfrm>
          <a:prstGeom prst="rect">
            <a:avLst/>
          </a:prstGeom>
          <a:solidFill>
            <a:srgbClr val="FAFBFC"/>
          </a:solidFill>
          <a:ln w="9525">
            <a:solidFill>
              <a:srgbClr val="E6E6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745736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6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C  标签侧（贴标位置 / 遮挡 / 极化）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974336"/>
            <a:ext cx="521208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命中的箱也只读到 1–2 个标签、且反复读同一两个</a:t>
            </a:r>
          </a:p>
          <a:p>
            <a:pPr algn="l">
              <a:lnSpc>
                <a:spcPct val="12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⇒ 部分标签被挡住或被箱体极化屏蔽，不是全都弱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377440"/>
            <a:ext cx="52669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40 分钟就能定性的判别实验（不用改硬件）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355080" y="2651760"/>
          <a:ext cx="5266942" cy="1609344"/>
        </p:xfrm>
        <a:graphic>
          <a:graphicData uri="http://schemas.openxmlformats.org/drawingml/2006/table">
            <a:tbl>
              <a:tblPr/>
              <a:tblGrid>
                <a:gridCol w="365759"/>
                <a:gridCol w="2395727"/>
                <a:gridCol w="2505456"/>
              </a:tblGrid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#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做法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若结果是这样，则结论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箱面额外贴 1 片已知好标签，正常过箱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读到这片标签但 readStatus 仍 False ⇒ B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rfidmon 占会话，同一箱手动触发一次盘存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能读到 6 个 ⇒ A，与射频能力无关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3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不装金属背壳 / 把标签面对读码器再过一次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变成 6/6 ⇒ C（遮挡或贴标位置）</a:t>
                      </a:r>
                    </a:p>
                  </a:txBody>
                  <a:tcPr marL="50292" marR="50292" marT="13716" marB="13716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ectangle 25"/>
          <p:cNvSpPr/>
          <p:nvPr/>
        </p:nvSpPr>
        <p:spPr>
          <a:xfrm>
            <a:off x="6355080" y="4425696"/>
            <a:ext cx="5266944" cy="1316736"/>
          </a:xfrm>
          <a:prstGeom prst="rect">
            <a:avLst/>
          </a:prstGeom>
          <a:solidFill>
            <a:srgbClr val="E6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4535424"/>
            <a:ext cx="4937760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96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这一步和 P5–P7 的模型预测什么关系</a:t>
            </a:r>
          </a:p>
          <a:p>
            <a:pPr>
              <a:lnSpc>
                <a:spcPct val="125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模型说的是“布好之后能不能读到 6 个”，前提是箱真的被盘存、标签真的在箱里。</a:t>
            </a:r>
          </a:p>
          <a:p>
            <a:pPr>
              <a:lnSpc>
                <a:spcPct val="125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现网实测（三面天线 &lt;5 cm 仍 0.08/6、读到数与距离无相关）说明这个前提现在不成立。</a:t>
            </a:r>
          </a:p>
          <a:p>
            <a:pPr>
              <a:lnSpc>
                <a:spcPct val="125000"/>
              </a:lnSpc>
            </a:pPr>
            <a:r>
              <a:rPr sz="88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所以改造顺序必须是：先把“每箱被盘存 + 6 个标签都在可读位置”做实 → 再谈增益/厂家。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5870448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888736"/>
            <a:ext cx="10515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先在 40 分钟内定性 A/B/C；定性之前，任何“换读码器 / 换天线”的收益都无法验证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66928" y="6419088"/>
            <a:ext cx="7315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93247" y="6419088"/>
            <a:ext cx="731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65760"/>
            <a:ext cx="110578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机型口径：HQ 代码 / 客户代码 / 尺寸·品类（附 31 天实测）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77824"/>
            <a:ext cx="110578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客户口径取自事业部机型对照表；MES CongfigSize 可交叉验证（Prosexxx / Amaxxx / Julxxx 为脱敏写法）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1207008"/>
            <a:ext cx="11057839" cy="0"/>
          </a:xfrm>
          <a:prstGeom prst="line">
            <a:avLst/>
          </a:prstGeom>
          <a:ln w="952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66928" y="6345936"/>
            <a:ext cx="11057839" cy="0"/>
          </a:xfrm>
          <a:prstGeom prst="line">
            <a:avLst/>
          </a:prstGeom>
          <a:ln w="9525">
            <a:solidFill>
              <a:srgbClr val="ECEC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353312"/>
          <a:ext cx="11064240" cy="2368296"/>
        </p:xfrm>
        <a:graphic>
          <a:graphicData uri="http://schemas.openxmlformats.org/drawingml/2006/table">
            <a:tbl>
              <a:tblPr/>
              <a:tblGrid>
                <a:gridCol w="1131570"/>
                <a:gridCol w="2095500"/>
                <a:gridCol w="1969770"/>
                <a:gridCol w="838200"/>
                <a:gridCol w="1257300"/>
                <a:gridCol w="1424940"/>
                <a:gridCol w="1299210"/>
                <a:gridCol w="1047750"/>
              </a:tblGrid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HQ代码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客户代码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尺寸 / 品类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背壳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箱数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readStatus=True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窗口 0 标签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4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读全 6 个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AX7907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Prosecco/Marsala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 inch e-reader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未标注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54,810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9.4%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99.1%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Amaro/Julep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塑料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15,202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7.8%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98.9%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0.01%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AX6727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Sangria/Seabreeze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未标注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7,170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7.9%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40.5%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2.12%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AX8252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Amaro/Julep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7 inch e-reader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金属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6,524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8.7%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95.2%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0.0%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AX7771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Roselite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8 inch tablet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本线未生产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1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AX7513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Turquoise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11 inch tablet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本线未生产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80" b="0">
                          <a:solidFill>
                            <a:srgbClr val="1A1A1A"/>
                          </a:solidFill>
                          <a:latin typeface="Arial"/>
                          <a:ea typeface="微软雅黑"/>
                          <a:cs typeface="Arial"/>
                        </a:rPr>
                        <a:t>—</a:t>
                      </a:r>
                    </a:p>
                  </a:txBody>
                  <a:tcPr marL="50292" marR="50292" marT="10972" marB="10972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931920"/>
            <a:ext cx="681228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1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口径更正（今天定的）</a:t>
            </a:r>
          </a:p>
          <a:p>
            <a:pPr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「Kinder」在机台日志里一次都没出现，是早期猜测 —— 作废；旧代号 KD-SP/LP/SM/LM、PT-SM/LM 一并作废。</a:t>
            </a:r>
          </a:p>
          <a:p>
            <a:pPr>
              <a:lnSpc>
                <a:spcPct val="130000"/>
              </a:lnSpc>
            </a:pPr>
            <a:r>
              <a:rPr sz="9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新代号＝HQ代码-背壳：7907-P / 7907-M / 8252-P / 8252-M / 7771-M / 7513-M。</a:t>
            </a:r>
          </a:p>
          <a:p>
            <a:pPr>
              <a:lnSpc>
                <a:spcPct val="130000"/>
              </a:lnSpc>
            </a:pPr>
            <a:r>
              <a:rPr sz="90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背壳材质不是猜的：MES CongfigSize 直接写 (Metal)/(Plastic)，AX8252 两种都在产。</a:t>
            </a:r>
          </a:p>
          <a:p>
            <a:pPr>
              <a:lnSpc>
                <a:spcPct val="130000"/>
              </a:lnSpc>
            </a:pPr>
            <a:r>
              <a:rPr sz="900" b="0">
                <a:solidFill>
                  <a:srgbClr val="C0504D"/>
                </a:solidFill>
                <a:latin typeface="Arial"/>
                <a:ea typeface="微软雅黑"/>
                <a:cs typeface="Arial"/>
              </a:rPr>
              <a:t>AX6727（Sangria/Seabreeze）读全 2.12%、均值 1.02，明显偏离其余机型 —— 记为异常，先查贴标/工位。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89520" y="3931920"/>
            <a:ext cx="4041648" cy="1828800"/>
          </a:xfrm>
          <a:prstGeom prst="rect">
            <a:avLst/>
          </a:prstGeom>
          <a:solidFill>
            <a:srgbClr val="E6ED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2" y="4041648"/>
            <a:ext cx="3712463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000" b="1">
                <a:solidFill>
                  <a:srgbClr val="3E5DA8"/>
                </a:solidFill>
                <a:latin typeface="Arial"/>
                <a:ea typeface="微软雅黑"/>
                <a:cs typeface="Arial"/>
              </a:rPr>
              <a:t>数据来源与边界</a:t>
            </a:r>
          </a:p>
          <a:p>
            <a:pPr>
              <a:lnSpc>
                <a:spcPct val="13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箱数＝31 天有 SSCC 且有 readStatus 的箱（94,284 个 SSCC 可映射机型）。</a:t>
            </a:r>
          </a:p>
          <a:p>
            <a:pPr>
              <a:lnSpc>
                <a:spcPct val="13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readStatus 判定口径仍需程序方确认（是否＝读到指定标签、RfidCheckFullOrSingle=2 的含义）。</a:t>
            </a:r>
          </a:p>
          <a:p>
            <a:pPr>
              <a:lnSpc>
                <a:spcPct val="130000"/>
              </a:lnSpc>
            </a:pPr>
            <a:r>
              <a:rPr sz="880" b="0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逐台对号做不到：箱内 6 台条码不会同时出现在同一窗口。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870448"/>
            <a:ext cx="45720" cy="310896"/>
          </a:xfrm>
          <a:prstGeom prst="rect">
            <a:avLst/>
          </a:prstGeom>
          <a:solidFill>
            <a:srgbClr val="3E5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5888736"/>
            <a:ext cx="10874959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A1A1A"/>
                </a:solidFill>
                <a:latin typeface="Arial"/>
                <a:ea typeface="微软雅黑"/>
                <a:cs typeface="Arial"/>
              </a:rPr>
              <a:t>对外一律用「HQ代码 + 客户代码 + 尺寸/品类」三件套标注机型，不再用 Kinder/大小 这类无法核对的写法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731520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RFID 读取能力评估 · 7H3AA-PALLET · 2026-10-22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247" y="6419088"/>
            <a:ext cx="731520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8C8C8C"/>
                </a:solidFill>
                <a:latin typeface="Arial"/>
                <a:ea typeface="微软雅黑"/>
                <a:cs typeface="Arial"/>
              </a:rPr>
              <a:t>11 /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