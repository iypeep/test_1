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封面。汇报对象是设备/工艺主管与客户评审，全篇结论先行：能证实的三条写在 P2 与 P4，其余标待测，不猜测。数据来源：机台日志 + 自研 LLRP 客户端 24,925 条实测 + 公开 datasheet。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先给结论再讲细节。R1/R2/R4/R5 四项都卡在“没有实测数据”，原因不是没方案，而是需要现场 30 分钟窗口换硬件/量距离。如果被问到“是不是读码器不行”，指到 P4：今天的问题是会话被抢，不是灵敏度。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标签侧是全篇唯一有硬数据的部分。要点：两条 EPC 是设备标签（14 字节、ASCII 像序列号），不是整机标签；芯片是 Impinj Monza R6-P；RSSI −42 到 −71 dBm，3 支天线都能读到 ⇒ 信号余量充足。所以后面要查的是姿态、距离、会话占用，不是标签。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这是全篇最重要的一页：现有日志无法回答“一箱 6 个读到几个”。99.6% 是两枚常驻标签，真整机标签全天约 250 行；应用层只打 RfidFlow start/end，没有数量。右侧事故链说明今天 16:16 的真实停摆原因——MultiReader 抢了 LLRP 会话；17:00 后 726 次流程零次开启，是“没在用”而不是“漏读”。近 30 天 5 次同类停摆 ⇒ 可用性风险。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R1。先统一面定义，避免“正面/背面”混用（两者同为长×高，最易混）。A1 是产线实际姿态（正立、底面朝下、读码器在下），但这是按设备结构推断的，必须现场拍照确认后才能当基线。注意标签在箱内机器上，不贴箱面。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R2 + R4。先把术语纠正：6/9 dB 是天线增益 dBi，读码器看 30 dBm 输出与 −80 dBm 门限。距离矩阵 4 位置 × 6 档全部待测。关键纪律：一次只改一个变量。+3 dB 增益约等于自由空间读距 ×1.4，但波束变窄，先 9 dBi 解决对位再 6 dBi 求覆盖。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R3 + R5。形态先定：本项目就是工业读头（分体式）。型号给到四家代表规格，来源是厂商公开资料，下单前必须复核。推荐顺序：先 Impinj E710 同厂做基线，再拿 MagicRF QM100 谈降本，天线和读码器不同时换。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收口。四步：现场拍照确认姿态 → A/B 组矩阵 → C 组换硬件 → 填表出 V2。判定阈值是本报告的建议值，需评审确认。另外两项低成本动作：会话占用告警、查 FileAppender.log 为何 10-07 后停更。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CE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1874519"/>
            <a:ext cx="54864" cy="1481328"/>
          </a:xfrm>
          <a:prstGeom prst="rect">
            <a:avLst/>
          </a:prstGeom>
          <a:solidFill>
            <a:srgbClr val="3E5D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8096" y="1810512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595959"/>
                </a:solidFill>
                <a:latin typeface="Arial"/>
                <a:ea typeface="微软雅黑"/>
                <a:cs typeface="Arial"/>
              </a:rPr>
              <a:t>华勤 · MD5 / MBD3MD3 · 线体 7H3PK1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2121408"/>
            <a:ext cx="960120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000" b="1" i="0">
                <a:solidFill>
                  <a:srgbClr val="262626"/>
                </a:solidFill>
                <a:latin typeface="Arial"/>
                <a:ea typeface="微软雅黑"/>
                <a:cs typeface="Arial"/>
              </a:rPr>
              <a:t>RFID 读取能力评估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8096" y="2834640"/>
            <a:ext cx="9875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404040"/>
                </a:solidFill>
                <a:latin typeface="Arial"/>
                <a:ea typeface="微软雅黑"/>
                <a:cs typeface="Arial"/>
              </a:rPr>
              <a:t>卡通箱整机标签读取现状 · 测试方案 · 模组选型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68096" y="3602736"/>
            <a:ext cx="4206240" cy="0"/>
          </a:xfrm>
          <a:prstGeom prst="line">
            <a:avLst/>
          </a:prstGeom>
          <a:ln w="12700">
            <a:solidFill>
              <a:srgbClr val="A9BA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68096" y="3749039"/>
            <a:ext cx="78638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404040"/>
                </a:solidFill>
                <a:latin typeface="Arial"/>
                <a:ea typeface="微软雅黑"/>
                <a:cs typeface="Arial"/>
              </a:rPr>
              <a:t>站点  7H3AA-PALLET   工位「自动扫描称重」</a:t>
            </a:r>
          </a:p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404040"/>
                </a:solidFill>
                <a:latin typeface="Arial"/>
                <a:ea typeface="微软雅黑"/>
                <a:cs typeface="Arial"/>
              </a:rPr>
              <a:t>版本  V1（现状 + 测试方案）    2026-10-21    设备工程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74175" y="6172200"/>
            <a:ext cx="2468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6A7A8C"/>
                </a:solidFill>
                <a:latin typeface="Arial"/>
                <a:ea typeface="微软雅黑"/>
                <a:cs typeface="Arial"/>
              </a:rPr>
              <a:t>数据来源：机台日志 · 实测 · datasheet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1105783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300" b="1" i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评估目标与结论一览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96112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8C8C8C"/>
                </a:solidFill>
                <a:latin typeface="Arial"/>
                <a:ea typeface="微软雅黑"/>
                <a:cs typeface="Arial"/>
              </a:rPr>
              <a:t>5 项要求逐条判定 —— 结论先行：能证实的三条，其余一律标待测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1225296"/>
            <a:ext cx="11057839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66928" y="6400800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 i="0">
                <a:solidFill>
                  <a:srgbClr val="8C8C8C"/>
                </a:solidFill>
                <a:latin typeface="Arial"/>
                <a:ea typeface="微软雅黑"/>
                <a:cs typeface="Arial"/>
              </a:rPr>
              <a:t>RFID 读取能力评估 · 7H3AA-PALLET · 2026-10-21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93247" y="6400800"/>
            <a:ext cx="7315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00" b="0" i="0">
                <a:solidFill>
                  <a:srgbClr val="8C8C8C"/>
                </a:solidFill>
                <a:latin typeface="Arial"/>
                <a:ea typeface="微软雅黑"/>
                <a:cs typeface="Arial"/>
              </a:rPr>
              <a:t>2 / 8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66928" y="6327648"/>
            <a:ext cx="11057839" cy="0"/>
          </a:xfrm>
          <a:prstGeom prst="line">
            <a:avLst/>
          </a:prstGeom>
          <a:ln w="9525">
            <a:solidFill>
              <a:srgbClr val="ECEC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1481328"/>
          <a:ext cx="11057837" cy="3401568"/>
        </p:xfrm>
        <a:graphic>
          <a:graphicData uri="http://schemas.openxmlformats.org/drawingml/2006/table">
            <a:tbl>
              <a:tblPr/>
              <a:tblGrid>
                <a:gridCol w="515407"/>
                <a:gridCol w="3467288"/>
                <a:gridCol w="890249"/>
                <a:gridCol w="6184893"/>
              </a:tblGrid>
              <a:tr h="5669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50" b="1" i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#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1" i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要求（原始口径）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50" b="1" i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判定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1" i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现状依据 / 缺口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 b="1" i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R1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b="0" i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卡通箱放置方式：哪一面为底面、接触读码器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 b="0" i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待实测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b="0" i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六面定义 + A1–A6 姿态矩阵已固化；产线姿态按结构推断为 A1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 b="1" i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R2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b="0" i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不同读码器（9 dB / 6 dB，不同厂家）读取状况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 b="0" i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待实测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b="0" i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术语已澄清为天线增益；测试矩阵与固定项就绪，硬件未换过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 b="1" i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R3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b="0" i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市面可挑选的 RFID 模组类型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 b="0" i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已完成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b="0" i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4 类形态 + 6 家厂商关键规格（附公开来源）；选型建议见 P7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 b="1" i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R4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b="0" i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上 / 下 / 侧面 读码器到箱体的距离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 b="0" i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待实测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b="0" i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B1–B4 × 0/5/10/20/30/50 cm 矩阵已定，零数据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 b="1" i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R5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b="0" i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不同厂商模组读这个标签的情况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 b="0" i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待实测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b="0" i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标签侧已实测（Monza R6-P）；跨厂商需换硬件，按 C 组执行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66928" y="5074920"/>
            <a:ext cx="45720" cy="310896"/>
          </a:xfrm>
          <a:prstGeom prst="rect">
            <a:avLst/>
          </a:prstGeom>
          <a:solidFill>
            <a:srgbClr val="3E5D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5093207"/>
            <a:ext cx="10874959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日志答不了“读到几个”；短板是可用性不是灵敏度；“6 dB / 9 dB”是天线增益（dBi）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5577840"/>
            <a:ext cx="1105783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 i="0">
                <a:solidFill>
                  <a:srgbClr val="8C8C8C"/>
                </a:solidFill>
                <a:latin typeface="Arial"/>
                <a:ea typeface="微软雅黑"/>
                <a:cs typeface="Arial"/>
              </a:rPr>
              <a:t>判定口径   已完成 = 有公开规格支撑、可直接进报告    待实测 = 方案就绪、无数据，不写入结论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1105783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300" b="1" i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现状①：设备与标签（已证实）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96112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8C8C8C"/>
                </a:solidFill>
                <a:latin typeface="Arial"/>
                <a:ea typeface="微软雅黑"/>
                <a:cs typeface="Arial"/>
              </a:rPr>
              <a:t>读码器配置来自 SettingPrm.xml；标签数据来自自研 LLRP 客户端 24,925 条直读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1225296"/>
            <a:ext cx="11057839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66928" y="6400800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 i="0">
                <a:solidFill>
                  <a:srgbClr val="8C8C8C"/>
                </a:solidFill>
                <a:latin typeface="Arial"/>
                <a:ea typeface="微软雅黑"/>
                <a:cs typeface="Arial"/>
              </a:rPr>
              <a:t>RFID 读取能力评估 · 7H3AA-PALLET · 2026-10-21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93247" y="6400800"/>
            <a:ext cx="7315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00" b="0" i="0">
                <a:solidFill>
                  <a:srgbClr val="8C8C8C"/>
                </a:solidFill>
                <a:latin typeface="Arial"/>
                <a:ea typeface="微软雅黑"/>
                <a:cs typeface="Arial"/>
              </a:rPr>
              <a:t>3 / 8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66928" y="6327648"/>
            <a:ext cx="11057839" cy="0"/>
          </a:xfrm>
          <a:prstGeom prst="line">
            <a:avLst/>
          </a:prstGeom>
          <a:ln w="9525">
            <a:solidFill>
              <a:srgbClr val="ECEC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66928" y="1417320"/>
            <a:ext cx="51206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读码器配置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66928" y="1700784"/>
          <a:ext cx="5257800" cy="2560320"/>
        </p:xfrm>
        <a:graphic>
          <a:graphicData uri="http://schemas.openxmlformats.org/drawingml/2006/table">
            <a:tbl>
              <a:tblPr/>
              <a:tblGrid>
                <a:gridCol w="1600200"/>
                <a:gridCol w="3657600"/>
              </a:tblGrid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1" i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项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1" i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值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1" i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读码器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0" i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192.168.1.100 · LLRP 5084 · HTTP 80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1" i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发射功率 / 接收门限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0" i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30 dBm / −80 dBm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1" i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天线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0" i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4 口（实测命中 ant1 / 3 / 4）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1" i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启动延时 / 校验模式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0" i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RfidStartDelay 1 · CheckFullOrSingle 2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1" i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扫码枪 / PLC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0" i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192.168.1.80:2002/2003 · 192.168.1.10:6000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1" i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机台网卡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0" i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10.22.196.40（MES）· 192.168.1.254（专网）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1417320"/>
            <a:ext cx="53949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标签实测（EPC / TID / 芯片 / RSSI）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263640" y="1700784"/>
          <a:ext cx="5394958" cy="1463040"/>
        </p:xfrm>
        <a:graphic>
          <a:graphicData uri="http://schemas.openxmlformats.org/drawingml/2006/table">
            <a:tbl>
              <a:tblPr/>
              <a:tblGrid>
                <a:gridCol w="1296463"/>
                <a:gridCol w="794606"/>
                <a:gridCol w="1045534"/>
                <a:gridCol w="669142"/>
                <a:gridCol w="1589213"/>
              </a:tblGrid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50" b="1" i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EPC (ASCII)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1" i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TID 前缀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50" b="1" i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芯片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1" i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天线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1" i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RSSI 均 / 范围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0" i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A037001000071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00" b="0" i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E2801170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0" i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Monza R6-P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00" b="0" i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1 / 3 / 4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00" b="0" i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−53.3 ｜ −42.0 … −63.5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0" i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B019001001229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00" b="0" i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E2801170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0" i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Monza R6-P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00" b="0" i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1 / 3 / 4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00" b="0" i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−63.4 ｜ −54.0 … −71.5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0" i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500105089031902F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00" b="0" i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—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0" i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（非标签字段）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00" b="0" i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4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00" b="0" i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−75.6 ｜ −75.0 … −76.5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12" name="Picture 11" descr="fig2_anten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3401568"/>
            <a:ext cx="2788920" cy="179730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281160" y="3456432"/>
            <a:ext cx="242316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 i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读图</a:t>
            </a:r>
          </a:p>
          <a:p>
            <a:pPr algn="l">
              <a:lnSpc>
                <a:spcPct val="125000"/>
              </a:lnSpc>
            </a:pPr>
            <a:r>
              <a:rPr sz="950" b="0" i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ant4 最强、ant3 最弱；两条常驻标签都只有 3 支天线能读到。</a:t>
            </a:r>
          </a:p>
          <a:p>
            <a:pPr algn="l">
              <a:lnSpc>
                <a:spcPct val="125000"/>
              </a:lnSpc>
            </a:pPr>
            <a:r>
              <a:rPr sz="950" b="0" i="0">
                <a:solidFill>
                  <a:srgbClr val="3E5DA8"/>
                </a:solidFill>
                <a:latin typeface="Arial"/>
                <a:ea typeface="微软雅黑"/>
                <a:cs typeface="Arial"/>
              </a:rPr>
              <a:t>⇒ 多天线布点直接影响“读全率”，是 R1/R4 测试必须记录的一项。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66928" y="4590288"/>
            <a:ext cx="5257800" cy="0"/>
          </a:xfrm>
          <a:prstGeom prst="line">
            <a:avLst/>
          </a:prstGeom>
          <a:ln w="9525">
            <a:solidFill>
              <a:srgbClr val="ECEC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66928" y="4681728"/>
            <a:ext cx="52578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i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为什么判为“设备标签”而不是整机标签</a:t>
            </a:r>
          </a:p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EPC 14 字节（非标准 96-bit），ASCII 形如设备序列号，与本站 EQSN A037001000150 同族。</a:t>
            </a:r>
          </a:p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TID 一律 E2 80 11 70…：E2 为 Gen2 硬性首字节，80 11 70 为 Impinj 厂商+型号。</a:t>
            </a:r>
          </a:p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8C8C8C"/>
                </a:solidFill>
                <a:latin typeface="Arial"/>
                <a:ea typeface="微软雅黑"/>
                <a:cs typeface="Arial"/>
              </a:rPr>
              <a:t>判据：8 字节、50 开头的 hex 不可能是 TID，只能是 64 位 EPC 或非标签字段。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5806440"/>
            <a:ext cx="45720" cy="310896"/>
          </a:xfrm>
          <a:prstGeom prst="rect">
            <a:avLst/>
          </a:prstGeom>
          <a:solidFill>
            <a:srgbClr val="3E5D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3232" y="5824727"/>
            <a:ext cx="10874959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标签侧信号余量充足 ⇒ 读取问题不在标签灵敏度，需往“会话占用 / 姿态 / 距离”方向查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1105783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300" b="1" i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现状②：日志答不了“读到几个”，且停摆复发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96112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8C8C8C"/>
                </a:solidFill>
                <a:latin typeface="Arial"/>
                <a:ea typeface="微软雅黑"/>
                <a:cs typeface="Arial"/>
              </a:rPr>
              <a:t>EpcLog 全天结构与近 30 天停摆 —— 这是必须上外部探针的原因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1225296"/>
            <a:ext cx="11057839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66928" y="6400800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 i="0">
                <a:solidFill>
                  <a:srgbClr val="8C8C8C"/>
                </a:solidFill>
                <a:latin typeface="Arial"/>
                <a:ea typeface="微软雅黑"/>
                <a:cs typeface="Arial"/>
              </a:rPr>
              <a:t>RFID 读取能力评估 · 7H3AA-PALLET · 2026-10-21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93247" y="6400800"/>
            <a:ext cx="7315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00" b="0" i="0">
                <a:solidFill>
                  <a:srgbClr val="8C8C8C"/>
                </a:solidFill>
                <a:latin typeface="Arial"/>
                <a:ea typeface="微软雅黑"/>
                <a:cs typeface="Arial"/>
              </a:rPr>
              <a:t>4 / 8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66928" y="6327648"/>
            <a:ext cx="11057839" cy="0"/>
          </a:xfrm>
          <a:prstGeom prst="line">
            <a:avLst/>
          </a:prstGeom>
          <a:ln w="9525">
            <a:solidFill>
              <a:srgbClr val="ECEC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66928" y="1417320"/>
            <a:ext cx="1874519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 i="0">
                <a:solidFill>
                  <a:srgbClr val="3E5DA8"/>
                </a:solidFill>
                <a:latin typeface="Arial"/>
                <a:ea typeface="微软雅黑"/>
                <a:cs typeface="Arial"/>
              </a:rPr>
              <a:t>99.6%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874519"/>
            <a:ext cx="187451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8C8C8C"/>
                </a:solidFill>
                <a:latin typeface="Arial"/>
                <a:ea typeface="微软雅黑"/>
                <a:cs typeface="Arial"/>
              </a:rPr>
              <a:t>EpcLog 占比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2112264"/>
            <a:ext cx="187451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两枚常驻设备标签的重复读取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24328" y="1417320"/>
            <a:ext cx="1874519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 i="0">
                <a:solidFill>
                  <a:srgbClr val="3E5DA8"/>
                </a:solidFill>
                <a:latin typeface="Arial"/>
                <a:ea typeface="微软雅黑"/>
                <a:cs typeface="Arial"/>
              </a:rPr>
              <a:t>30.8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24328" y="1874519"/>
            <a:ext cx="187451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8C8C8C"/>
                </a:solidFill>
                <a:latin typeface="Arial"/>
                <a:ea typeface="微软雅黑"/>
                <a:cs typeface="Arial"/>
              </a:rPr>
              <a:t>行 / 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24328" y="2112264"/>
            <a:ext cx="187451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全天真整机标签仅约 250 行（0.2%）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81728" y="1417320"/>
            <a:ext cx="1874519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 i="0">
                <a:solidFill>
                  <a:srgbClr val="3E5DA8"/>
                </a:solidFill>
                <a:latin typeface="Arial"/>
                <a:ea typeface="微软雅黑"/>
                <a:cs typeface="Arial"/>
              </a:rPr>
              <a:t>5 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81728" y="1874519"/>
            <a:ext cx="187451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8C8C8C"/>
                </a:solidFill>
                <a:latin typeface="Arial"/>
                <a:ea typeface="微软雅黑"/>
                <a:cs typeface="Arial"/>
              </a:rPr>
              <a:t>近 30 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81728" y="2112264"/>
            <a:ext cx="187451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4 次提前停摆 + 今日 16:16 起归零</a:t>
            </a:r>
          </a:p>
        </p:txBody>
      </p:sp>
      <p:pic>
        <p:nvPicPr>
          <p:cNvPr id="17" name="Picture 16" descr="fig1_epc_30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487168"/>
            <a:ext cx="6537960" cy="2312205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66928" y="4974336"/>
            <a:ext cx="65379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8C8C8C"/>
                </a:solidFill>
                <a:latin typeface="Arial"/>
                <a:ea typeface="微软雅黑"/>
                <a:cs typeface="Arial"/>
              </a:rPr>
              <a:t>近 30 天每日 EpcLog 行数（蓝 = 提前停摆 / 今日截断）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589520" y="1417320"/>
            <a:ext cx="4041648" cy="4206240"/>
          </a:xfrm>
          <a:prstGeom prst="rect">
            <a:avLst/>
          </a:prstGeom>
          <a:solidFill>
            <a:srgbClr val="FAFBFC"/>
          </a:solidFill>
          <a:ln w="9525">
            <a:solidFill>
              <a:srgbClr val="ECEC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1554480"/>
            <a:ext cx="37033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今日事故链（Main / Plc 日志时间戳）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1847088"/>
            <a:ext cx="370332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900" b="0" i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16:16:01   EpcLog 最后一行</a:t>
            </a:r>
          </a:p>
          <a:p>
            <a:pPr algn="l">
              <a:lnSpc>
                <a:spcPct val="145000"/>
              </a:lnSpc>
            </a:pPr>
            <a:r>
              <a:rPr sz="900" b="0" i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16:16:17   MultiReader(pid 7732) 取得 LLRP 会话</a:t>
            </a:r>
          </a:p>
          <a:p>
            <a:pPr algn="l">
              <a:lnSpc>
                <a:spcPct val="145000"/>
              </a:lnSpc>
            </a:pPr>
            <a:r>
              <a:rPr sz="900" b="0" i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16:16–16:31   15 分钟 31 次 RfidFlow，31 次报错</a:t>
            </a:r>
          </a:p>
          <a:p>
            <a:pPr algn="l">
              <a:lnSpc>
                <a:spcPct val="145000"/>
              </a:lnSpc>
            </a:pPr>
            <a:r>
              <a:rPr sz="850" b="0" i="0">
                <a:solidFill>
                  <a:srgbClr val="8C8C8C"/>
                </a:solidFill>
                <a:latin typeface="Arial"/>
                <a:ea typeface="微软雅黑"/>
                <a:cs typeface="Arial"/>
              </a:rPr>
              <a:t>            “must connect to the reader before…  ”</a:t>
            </a:r>
          </a:p>
          <a:p>
            <a:pPr algn="l">
              <a:lnSpc>
                <a:spcPct val="145000"/>
              </a:lnSpc>
            </a:pPr>
            <a:r>
              <a:rPr sz="900" b="0" i="0">
                <a:solidFill>
                  <a:srgbClr val="3E5DA8"/>
                </a:solidFill>
                <a:latin typeface="Arial"/>
                <a:ea typeface="微软雅黑"/>
                <a:cs typeface="Arial"/>
              </a:rPr>
              <a:t>17:00–19:59   726 次流程，RFID 开启记录 0 次</a:t>
            </a:r>
          </a:p>
          <a:p>
            <a:pPr algn="l">
              <a:lnSpc>
                <a:spcPct val="145000"/>
              </a:lnSpc>
            </a:pPr>
            <a:r>
              <a:rPr sz="950" b="1" i="0">
                <a:solidFill>
                  <a:srgbClr val="3E5DA8"/>
                </a:solidFill>
                <a:latin typeface="Arial"/>
                <a:ea typeface="微软雅黑"/>
                <a:cs typeface="Arial"/>
              </a:rPr>
              <a:t>⇒ 不是漏读，是根本没在用（会话仍被占）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772400" y="3977639"/>
            <a:ext cx="3703320" cy="0"/>
          </a:xfrm>
          <a:prstGeom prst="line">
            <a:avLst/>
          </a:prstGeom>
          <a:ln w="9525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7772400" y="4069080"/>
            <a:ext cx="37033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i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LLRP 是单客户端协议</a:t>
            </a:r>
          </a:p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多读器 / 我们的探针 / HQ Package System，谁占住 5084，其余全部连不上。</a:t>
            </a:r>
          </a:p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今日 ≤16:00：3,529 次流程中 3,064 次开启 ⇒ 参与率 89.3%。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5806440"/>
            <a:ext cx="45720" cy="310896"/>
          </a:xfrm>
          <a:prstGeom prst="rect">
            <a:avLst/>
          </a:prstGeom>
          <a:solidFill>
            <a:srgbClr val="3E5D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3232" y="5824727"/>
            <a:ext cx="10874959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要回答“一箱 6 个读到几个”，只能用外部探针 rfidmon 实测；日志只能证明读码器在工作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1105783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300" b="1" i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R1：卡通箱放置方式 —— 先统一面定义，再做姿态矩阵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96112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8C8C8C"/>
                </a:solidFill>
                <a:latin typeface="Arial"/>
                <a:ea typeface="微软雅黑"/>
                <a:cs typeface="Arial"/>
              </a:rPr>
              <a:t>正面与背面同为“长×高”，肉眼最易混；每张照片先贴面标再拍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1225296"/>
            <a:ext cx="11057839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66928" y="6400800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 i="0">
                <a:solidFill>
                  <a:srgbClr val="8C8C8C"/>
                </a:solidFill>
                <a:latin typeface="Arial"/>
                <a:ea typeface="微软雅黑"/>
                <a:cs typeface="Arial"/>
              </a:rPr>
              <a:t>RFID 读取能力评估 · 7H3AA-PALLET · 2026-10-21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93247" y="6400800"/>
            <a:ext cx="7315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00" b="0" i="0">
                <a:solidFill>
                  <a:srgbClr val="8C8C8C"/>
                </a:solidFill>
                <a:latin typeface="Arial"/>
                <a:ea typeface="微软雅黑"/>
                <a:cs typeface="Arial"/>
              </a:rPr>
              <a:t>5 / 8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66928" y="6327648"/>
            <a:ext cx="11057839" cy="0"/>
          </a:xfrm>
          <a:prstGeom prst="line">
            <a:avLst/>
          </a:prstGeom>
          <a:ln w="9525">
            <a:solidFill>
              <a:srgbClr val="ECEC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 descr="fig3_box_fa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1325880"/>
            <a:ext cx="5989320" cy="2837046"/>
          </a:xfrm>
          <a:prstGeom prst="rect">
            <a:avLst/>
          </a:prstGeom>
        </p:spPr>
      </p:pic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675120" y="1371600"/>
          <a:ext cx="4956047" cy="2816352"/>
        </p:xfrm>
        <a:graphic>
          <a:graphicData uri="http://schemas.openxmlformats.org/drawingml/2006/table">
            <a:tbl>
              <a:tblPr/>
              <a:tblGrid>
                <a:gridCol w="458893"/>
                <a:gridCol w="734229"/>
                <a:gridCol w="3762925"/>
              </a:tblGrid>
              <a:tr h="402336"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00" b="1" i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#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00" b="1" i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姿态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1" i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哪个面朝下 / 朝读码器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50" b="1" i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A1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50" b="0" i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正立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0" i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B-BOTTOM 朝下，读码器在下（产线基线）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50" b="1" i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A2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50" b="0" i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正立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0" i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F-FRONT 朝读码器（侧面照射）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50" b="1" i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A3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50" b="0" i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正立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0" i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F-BACK 朝读码器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50" b="1" i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A4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50" b="0" i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侧放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0" i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F-FRONT 朝下（标签是否被遮挡）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50" b="1" i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A5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50" b="0" i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侧放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0" i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F-BACK 朝下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50" b="1" i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A6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50" b="0" i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倒置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0" i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T-TOP 朝下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6675120" y="4553712"/>
            <a:ext cx="4956048" cy="786384"/>
          </a:xfrm>
          <a:prstGeom prst="rect">
            <a:avLst/>
          </a:prstGeom>
          <a:solidFill>
            <a:srgbClr val="E6ED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21424" y="4645152"/>
            <a:ext cx="4663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1" i="0">
                <a:solidFill>
                  <a:srgbClr val="3E5DA8"/>
                </a:solidFill>
                <a:latin typeface="Arial"/>
                <a:ea typeface="微软雅黑"/>
                <a:cs typeface="Arial"/>
              </a:rPr>
              <a:t>待现场确认</a:t>
            </a:r>
          </a:p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A1（正立、底面朝下、读码器在箱体下方）是按设备结构推定的产线实际姿态，需照片与卷尺确认后才能作为基线。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5760720"/>
            <a:ext cx="45720" cy="310896"/>
          </a:xfrm>
          <a:prstGeom prst="rect">
            <a:avLst/>
          </a:prstGeom>
          <a:solidFill>
            <a:srgbClr val="3E5D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" y="5779007"/>
            <a:ext cx="10874959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整机 RFID 标签在箱内机器上，不贴箱面 ⇒ 姿态影响来自金属遮挡与入射角，不是箱面材质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1105783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300" b="1" i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R2 + R4：读码器变量与距离矩阵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96112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8C8C8C"/>
                </a:solidFill>
                <a:latin typeface="Arial"/>
                <a:ea typeface="微软雅黑"/>
                <a:cs typeface="Arial"/>
              </a:rPr>
              <a:t>先把术语与单变量原则固定，否则读距差异无法归因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1225296"/>
            <a:ext cx="11057839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66928" y="6400800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 i="0">
                <a:solidFill>
                  <a:srgbClr val="8C8C8C"/>
                </a:solidFill>
                <a:latin typeface="Arial"/>
                <a:ea typeface="微软雅黑"/>
                <a:cs typeface="Arial"/>
              </a:rPr>
              <a:t>RFID 读取能力评估 · 7H3AA-PALLET · 2026-10-21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93247" y="6400800"/>
            <a:ext cx="7315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00" b="0" i="0">
                <a:solidFill>
                  <a:srgbClr val="8C8C8C"/>
                </a:solidFill>
                <a:latin typeface="Arial"/>
                <a:ea typeface="微软雅黑"/>
                <a:cs typeface="Arial"/>
              </a:rPr>
              <a:t>6 / 8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66928" y="6327648"/>
            <a:ext cx="11057839" cy="0"/>
          </a:xfrm>
          <a:prstGeom prst="line">
            <a:avLst/>
          </a:prstGeom>
          <a:ln w="9525">
            <a:solidFill>
              <a:srgbClr val="ECEC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566928" y="1371600"/>
            <a:ext cx="5532120" cy="841248"/>
          </a:xfrm>
          <a:prstGeom prst="rect">
            <a:avLst/>
          </a:prstGeom>
          <a:solidFill>
            <a:srgbClr val="FAFBFC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1444752"/>
            <a:ext cx="5257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1" i="0">
                <a:solidFill>
                  <a:srgbClr val="3E5DA8"/>
                </a:solidFill>
                <a:latin typeface="Arial"/>
                <a:ea typeface="微软雅黑"/>
                <a:cs typeface="Arial"/>
              </a:rPr>
              <a:t>术语纠正：9 dB / 6 dB = 天线增益（dBi），不是读码器参数</a:t>
            </a:r>
          </a:p>
          <a:p>
            <a:pPr algn="l">
              <a:lnSpc>
                <a:spcPct val="125000"/>
              </a:lnSpc>
            </a:pPr>
            <a:r>
              <a:rPr sz="950" b="0" i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读码器侧看输出功率（现场 30 dBm = 1 W）与接收门限（−80 dBm）；报告里必须分开写。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2359152"/>
            <a:ext cx="55321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B 组 · 距离矩阵（姿态固定 A1，每档 ≥30 秒、≥3 箱）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66928" y="2633472"/>
          <a:ext cx="5532114" cy="2194560"/>
        </p:xfrm>
        <a:graphic>
          <a:graphicData uri="http://schemas.openxmlformats.org/drawingml/2006/table">
            <a:tbl>
              <a:tblPr/>
              <a:tblGrid>
                <a:gridCol w="956682"/>
                <a:gridCol w="748707"/>
                <a:gridCol w="748707"/>
                <a:gridCol w="748707"/>
                <a:gridCol w="748707"/>
                <a:gridCol w="748707"/>
                <a:gridCol w="831897"/>
              </a:tblGrid>
              <a:tr h="438912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1" i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位置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50" b="1" i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0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50" b="1" i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5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50" b="1" i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10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50" b="1" i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20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50" b="1" i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30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50" b="1" i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50 cm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0" i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上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50" b="0" i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待测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50" b="0" i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待测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50" b="0" i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待测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50" b="0" i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待测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50" b="0" i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待测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50" b="0" i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待测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0" i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下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50" b="0" i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待测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50" b="0" i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待测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50" b="0" i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待测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50" b="0" i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待测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50" b="0" i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待测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50" b="0" i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待测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0" i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正面侧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50" b="0" i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待测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50" b="0" i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待测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50" b="0" i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待测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50" b="0" i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待测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50" b="0" i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待测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50" b="0" i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待测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0" i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背面侧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50" b="0" i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待测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50" b="0" i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待测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50" b="0" i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待测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50" b="0" i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待测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50" b="0" i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待测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50" b="0" i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待测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566928" y="4937760"/>
            <a:ext cx="5532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 i="0">
                <a:solidFill>
                  <a:srgbClr val="8C8C8C"/>
                </a:solidFill>
                <a:latin typeface="Arial"/>
                <a:ea typeface="微软雅黑"/>
                <a:cs typeface="Arial"/>
              </a:rPr>
              <a:t>0 cm = 天线面紧贴箱面（不压箱）；每档记 distinct EPC 与 6/6 读全数、RSSI 与主命中天线。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1371600"/>
            <a:ext cx="51206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固定项（不得随测试变动）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1664208"/>
            <a:ext cx="512064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90000"/>
              </a:lnSpc>
            </a:pPr>
            <a:r>
              <a:rPr sz="950" b="0" i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发射功率 30 dBm（要对比功率档就单列一组）</a:t>
            </a:r>
          </a:p>
          <a:p>
            <a:pPr algn="l">
              <a:lnSpc>
                <a:spcPct val="190000"/>
              </a:lnSpc>
            </a:pPr>
            <a:r>
              <a:rPr sz="950" b="0" i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Session 2 + DualTarget，天线固定同一支、其余禁用</a:t>
            </a:r>
          </a:p>
          <a:p>
            <a:pPr algn="l">
              <a:lnSpc>
                <a:spcPct val="190000"/>
              </a:lnSpc>
            </a:pPr>
            <a:r>
              <a:rPr sz="950" b="0" i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单档 ≥30 秒且 ≥3 箱；记录金属托盘 / 邻机 / 人员走动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537960" y="3236976"/>
            <a:ext cx="5120640" cy="0"/>
          </a:xfrm>
          <a:prstGeom prst="line">
            <a:avLst/>
          </a:prstGeom>
          <a:ln w="9525">
            <a:solidFill>
              <a:srgbClr val="ECEC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537960" y="3364992"/>
            <a:ext cx="51206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6 dBi 与 9 dBi 怎么用（R2 关键）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3657600"/>
            <a:ext cx="51206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90000"/>
              </a:lnSpc>
            </a:pPr>
            <a:r>
              <a:rPr sz="950" b="0" i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+3 dB 增益 ≈ 自由空间读距 ×1.4，但波束变窄、对位更敏感。</a:t>
            </a:r>
          </a:p>
          <a:p>
            <a:pPr algn="l">
              <a:lnSpc>
                <a:spcPct val="190000"/>
              </a:lnSpc>
            </a:pPr>
            <a:r>
              <a:rPr sz="950" b="0" i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产线箱体位姿固定 ⇒ 先用 9 dBi 解决对位，再用 6 dBi 求覆盖。</a:t>
            </a:r>
          </a:p>
          <a:p>
            <a:pPr algn="l">
              <a:lnSpc>
                <a:spcPct val="190000"/>
              </a:lnSpc>
            </a:pPr>
            <a:r>
              <a:rPr sz="950" b="0" i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两支天线读到的时间差也要记：它是“能不能读全”的直接线索。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5577840"/>
            <a:ext cx="45720" cy="310896"/>
          </a:xfrm>
          <a:prstGeom prst="rect">
            <a:avLst/>
          </a:prstGeom>
          <a:solidFill>
            <a:srgbClr val="3E5D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3232" y="5596127"/>
            <a:ext cx="10874959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铁律：一次只改一个变量 —— 固定天线只换读码器，或固定读码器只换天线；否则读距差异无法归因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1105783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300" b="1" i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R3 + R5：模组选型与跨厂商对比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96112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8C8C8C"/>
                </a:solidFill>
                <a:latin typeface="Arial"/>
                <a:ea typeface="微软雅黑"/>
                <a:cs typeface="Arial"/>
              </a:rPr>
              <a:t>先定形态再定型号；规格以公开资料为依据，下单前需复核最新 datasheet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1225296"/>
            <a:ext cx="11057839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66928" y="6400800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 i="0">
                <a:solidFill>
                  <a:srgbClr val="8C8C8C"/>
                </a:solidFill>
                <a:latin typeface="Arial"/>
                <a:ea typeface="微软雅黑"/>
                <a:cs typeface="Arial"/>
              </a:rPr>
              <a:t>RFID 读取能力评估 · 7H3AA-PALLET · 2026-10-21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93247" y="6400800"/>
            <a:ext cx="7315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00" b="0" i="0">
                <a:solidFill>
                  <a:srgbClr val="8C8C8C"/>
                </a:solidFill>
                <a:latin typeface="Arial"/>
                <a:ea typeface="微软雅黑"/>
                <a:cs typeface="Arial"/>
              </a:rPr>
              <a:t>7 / 8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66928" y="6327648"/>
            <a:ext cx="11057839" cy="0"/>
          </a:xfrm>
          <a:prstGeom prst="line">
            <a:avLst/>
          </a:prstGeom>
          <a:ln w="9525">
            <a:solidFill>
              <a:srgbClr val="ECEC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1417320"/>
          <a:ext cx="11057838" cy="2852928"/>
        </p:xfrm>
        <a:graphic>
          <a:graphicData uri="http://schemas.openxmlformats.org/drawingml/2006/table">
            <a:tbl>
              <a:tblPr/>
              <a:tblGrid>
                <a:gridCol w="1788076"/>
                <a:gridCol w="1458693"/>
                <a:gridCol w="3952589"/>
                <a:gridCol w="3858480"/>
              </a:tblGrid>
              <a:tr h="47548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1" i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厂商 / 型号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1" i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形态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1" i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关键规格（公开来源）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1" i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与本项目的关系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1" i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Impinj E710 平台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0" i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工业读头 / 模块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0" i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8 天线口 · 最大 33 dBm · 900 tags/s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0" i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现场即 Impinj 体系，同厂替换做基线最优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1" i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ThingMagic M6e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0" i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嵌入式模块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0" i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4 天线口 · 750 tags/s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0" i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生态成熟，便于快速集成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1" i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MagicRF QM100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0" i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读芯片（国产）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0" i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灵敏度 −79 dBm · 片内 PA 仅 4 dBm，需外置功放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0" i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降本主力，须验外置 PA 后的一致性与读取率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1" i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Kathrein / Feig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0" i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工业读头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0" i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多口 · 以太网 · 宽温（工业级）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0" i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稳定性优先时的备选，价格高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1" i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Zebra FX9600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0" i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一体成品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0" i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4/8 口 · 30 dBm 级 · 支持 PoE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0" i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仓储产线通用，替换快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66928" y="4315968"/>
            <a:ext cx="5486400" cy="1389888"/>
          </a:xfrm>
          <a:prstGeom prst="rect">
            <a:avLst/>
          </a:prstGeom>
          <a:solidFill>
            <a:srgbClr val="E6ED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4407408"/>
            <a:ext cx="51663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 i="0">
                <a:solidFill>
                  <a:srgbClr val="3E5DA8"/>
                </a:solidFill>
                <a:latin typeface="Arial"/>
                <a:ea typeface="微软雅黑"/>
                <a:cs typeface="Arial"/>
              </a:rPr>
              <a:t>推荐倾向</a:t>
            </a:r>
          </a:p>
          <a:p>
            <a:pPr algn="l">
              <a:lnSpc>
                <a:spcPct val="125000"/>
              </a:lnSpc>
            </a:pPr>
            <a:r>
              <a:rPr sz="950" b="0" i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① 先用 Impinj E710 同厂替换做基线（变量最少、LLRP 客户端直接复用）</a:t>
            </a:r>
          </a:p>
          <a:p>
            <a:pPr algn="l">
              <a:lnSpc>
                <a:spcPct val="125000"/>
              </a:lnSpc>
            </a:pPr>
            <a:r>
              <a:rPr sz="950" b="0" i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② 基线确认后取 MagicRF QM100 对比降本，重点验外置 PA 与 RSSI/TID 上报</a:t>
            </a:r>
          </a:p>
          <a:p>
            <a:pPr algn="l">
              <a:lnSpc>
                <a:spcPct val="125000"/>
              </a:lnSpc>
            </a:pPr>
            <a:r>
              <a:rPr sz="950" b="1" i="0">
                <a:solidFill>
                  <a:srgbClr val="3E5DA8"/>
                </a:solidFill>
                <a:latin typeface="Arial"/>
                <a:ea typeface="微软雅黑"/>
                <a:cs typeface="Arial"/>
              </a:rPr>
              <a:t>③ 天线与读码器不同时换；A/B 只改一个变量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4315968"/>
            <a:ext cx="5257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必问供应商（完整 8 问见报告 §5.4）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4608576"/>
            <a:ext cx="5257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950" b="0" i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输出功率范围与天线口数 ｜ 接收灵敏度（含自干扰条件）</a:t>
            </a:r>
          </a:p>
          <a:p>
            <a:pPr algn="l">
              <a:lnSpc>
                <a:spcPct val="140000"/>
              </a:lnSpc>
            </a:pPr>
            <a:r>
              <a:rPr sz="950" b="0" i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实测读取率（非理论值）｜ 是否上报 RSSI / 相位 / TID</a:t>
            </a:r>
          </a:p>
          <a:p>
            <a:pPr algn="l">
              <a:lnSpc>
                <a:spcPct val="140000"/>
              </a:lnSpc>
            </a:pPr>
            <a:r>
              <a:rPr sz="950" b="0" i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是否提供标准 LLRP 口 + SDK（.NET / C / REST）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5806440"/>
            <a:ext cx="45720" cy="310896"/>
          </a:xfrm>
          <a:prstGeom prst="rect">
            <a:avLst/>
          </a:prstGeom>
          <a:solidFill>
            <a:srgbClr val="3E5D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5824727"/>
            <a:ext cx="10874959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无论最终选谁，验收口径统一：6 个标签读全率 ≥90% 且 R1–R4 条件下不掉档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1105783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300" b="1" i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下一步：现场补数 → 出 V2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96112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8C8C8C"/>
                </a:solidFill>
                <a:latin typeface="Arial"/>
                <a:ea typeface="微软雅黑"/>
                <a:cs typeface="Arial"/>
              </a:rPr>
              <a:t>顺序不可颠倒：先姿态确认，再 A/B 矩阵，最后换硬件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1225296"/>
            <a:ext cx="11057839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66928" y="6400800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 i="0">
                <a:solidFill>
                  <a:srgbClr val="8C8C8C"/>
                </a:solidFill>
                <a:latin typeface="Arial"/>
                <a:ea typeface="微软雅黑"/>
                <a:cs typeface="Arial"/>
              </a:rPr>
              <a:t>RFID 读取能力评估 · 7H3AA-PALLET · 2026-10-21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93247" y="6400800"/>
            <a:ext cx="7315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00" b="0" i="0">
                <a:solidFill>
                  <a:srgbClr val="8C8C8C"/>
                </a:solidFill>
                <a:latin typeface="Arial"/>
                <a:ea typeface="微软雅黑"/>
                <a:cs typeface="Arial"/>
              </a:rPr>
              <a:t>8 / 8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66928" y="6327648"/>
            <a:ext cx="11057839" cy="0"/>
          </a:xfrm>
          <a:prstGeom prst="line">
            <a:avLst/>
          </a:prstGeom>
          <a:ln w="9525">
            <a:solidFill>
              <a:srgbClr val="ECEC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566928" y="1417320"/>
            <a:ext cx="2670048" cy="2103120"/>
          </a:xfrm>
          <a:prstGeom prst="rect">
            <a:avLst/>
          </a:prstGeom>
          <a:solidFill>
            <a:srgbClr val="FAFBFC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536192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200" b="1" i="0">
                <a:solidFill>
                  <a:srgbClr val="3E5DA8"/>
                </a:solidFill>
                <a:latin typeface="Arial"/>
                <a:ea typeface="微软雅黑"/>
                <a:cs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029968"/>
            <a:ext cx="23317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现场拍照 + 面标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322576"/>
            <a:ext cx="23317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00" b="0" i="0">
                <a:solidFill>
                  <a:srgbClr val="404040"/>
                </a:solidFill>
                <a:latin typeface="Arial"/>
                <a:ea typeface="微软雅黑"/>
                <a:cs typeface="Arial"/>
              </a:rPr>
              <a:t>确认 A1 实际姿态与六面照片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00" b="0" i="0">
                <a:solidFill>
                  <a:srgbClr val="404040"/>
                </a:solidFill>
                <a:latin typeface="Arial"/>
                <a:ea typeface="微软雅黑"/>
                <a:cs typeface="Arial"/>
              </a:rPr>
              <a:t>需要：卷尺、相机、F-FRONT/F-BACK 纸标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55848" y="1417320"/>
            <a:ext cx="2670048" cy="2103120"/>
          </a:xfrm>
          <a:prstGeom prst="rect">
            <a:avLst/>
          </a:prstGeom>
          <a:solidFill>
            <a:srgbClr val="FAFBFC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20440" y="1536192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200" b="1" i="0">
                <a:solidFill>
                  <a:srgbClr val="3E5DA8"/>
                </a:solidFill>
                <a:latin typeface="Arial"/>
                <a:ea typeface="微软雅黑"/>
                <a:cs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2029968"/>
            <a:ext cx="23317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A 组 + B 组取数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0440" y="2322576"/>
            <a:ext cx="23317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00" b="0" i="0">
                <a:solidFill>
                  <a:srgbClr val="404040"/>
                </a:solidFill>
                <a:latin typeface="Arial"/>
                <a:ea typeface="微软雅黑"/>
                <a:cs typeface="Arial"/>
              </a:rPr>
              <a:t>6 姿态 × 4 位置 × 6 距离，约 30 档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00" b="0" i="0">
                <a:solidFill>
                  <a:srgbClr val="404040"/>
                </a:solidFill>
                <a:latin typeface="Arial"/>
                <a:ea typeface="微软雅黑"/>
                <a:cs typeface="Arial"/>
              </a:rPr>
              <a:t>需要：30 分钟停机窗口 + rfidmon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44768" y="1417320"/>
            <a:ext cx="2670048" cy="2103120"/>
          </a:xfrm>
          <a:prstGeom prst="rect">
            <a:avLst/>
          </a:prstGeom>
          <a:solidFill>
            <a:srgbClr val="FAFBFC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59" y="1536192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200" b="1" i="0">
                <a:solidFill>
                  <a:srgbClr val="3E5DA8"/>
                </a:solidFill>
                <a:latin typeface="Arial"/>
                <a:ea typeface="微软雅黑"/>
                <a:cs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59" y="2029968"/>
            <a:ext cx="23317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C 组换硬件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59" y="2322576"/>
            <a:ext cx="23317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00" b="0" i="0">
                <a:solidFill>
                  <a:srgbClr val="404040"/>
                </a:solidFill>
                <a:latin typeface="Arial"/>
                <a:ea typeface="微软雅黑"/>
                <a:cs typeface="Arial"/>
              </a:rPr>
              <a:t>6 dBi / 9 dBi 天线各一支，第二家读码器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00" b="0" i="0">
                <a:solidFill>
                  <a:srgbClr val="404040"/>
                </a:solidFill>
                <a:latin typeface="Arial"/>
                <a:ea typeface="微软雅黑"/>
                <a:cs typeface="Arial"/>
              </a:rPr>
              <a:t>需要：只改一个变量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933688" y="1417320"/>
            <a:ext cx="2670048" cy="2103120"/>
          </a:xfrm>
          <a:prstGeom prst="rect">
            <a:avLst/>
          </a:prstGeom>
          <a:solidFill>
            <a:srgbClr val="FAFBFC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98280" y="1536192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200" b="1" i="0">
                <a:solidFill>
                  <a:srgbClr val="3E5DA8"/>
                </a:solidFill>
                <a:latin typeface="Arial"/>
                <a:ea typeface="微软雅黑"/>
                <a:cs typeface="Arial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98280" y="2029968"/>
            <a:ext cx="23317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填表出 V2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98280" y="2322576"/>
            <a:ext cx="23317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00" b="0" i="0">
                <a:solidFill>
                  <a:srgbClr val="404040"/>
                </a:solidFill>
                <a:latin typeface="Arial"/>
                <a:ea typeface="微软雅黑"/>
                <a:cs typeface="Arial"/>
              </a:rPr>
              <a:t>填报告 §4 表格，补 R1/R2/R4/R5 结论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00" b="0" i="0">
                <a:solidFill>
                  <a:srgbClr val="404040"/>
                </a:solidFill>
                <a:latin typeface="Arial"/>
                <a:ea typeface="微软雅黑"/>
                <a:cs typeface="Arial"/>
              </a:rPr>
              <a:t>产出：V2 报告 + 选型结论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3749039"/>
            <a:ext cx="5669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判定口径（建议，待评审确认）</a:t>
            </a:r>
          </a:p>
        </p:txBody>
      </p:sp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566928" y="4041648"/>
          <a:ext cx="5669280" cy="1737360"/>
        </p:xfrm>
        <a:graphic>
          <a:graphicData uri="http://schemas.openxmlformats.org/drawingml/2006/table">
            <a:tbl>
              <a:tblPr/>
              <a:tblGrid>
                <a:gridCol w="914400"/>
                <a:gridCol w="4754880"/>
              </a:tblGrid>
              <a:tr h="347472"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00" b="1" i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判定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1" i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阈值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50" b="1" i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读全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0" i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6/6 标签 30 秒内全读到，且连续 3 箱成立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50" b="1" i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可用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0" i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平均 ≥5.4/6（90%），无箱低于 5/6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50" b="1" i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临界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0" i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平均 4.8–5.4/6，需调姿态或距离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50" b="1" i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不可用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0" i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平均 &lt;4.8/6，或出现箱级 0 读</a:t>
                      </a: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6" name="TextBox 25"/>
          <p:cNvSpPr txBox="1"/>
          <p:nvPr/>
        </p:nvSpPr>
        <p:spPr>
          <a:xfrm>
            <a:off x="6583680" y="3749039"/>
            <a:ext cx="5029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同时可做（低成本）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4041648"/>
            <a:ext cx="50292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950" b="0" i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会话占用检测 + 告警：被抢时在看板提示，避免流程静默无效</a:t>
            </a:r>
          </a:p>
          <a:p>
            <a:pPr algn="l">
              <a:lnSpc>
                <a:spcPct val="140000"/>
              </a:lnSpc>
            </a:pPr>
            <a:r>
              <a:rPr sz="950" b="0" i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确认 FileAppender.log 停更原因（唯一带天线 DSN/RSSI 的现成日志，最后写入 10-07）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66928" y="5806440"/>
            <a:ext cx="45720" cy="310896"/>
          </a:xfrm>
          <a:prstGeom prst="rect">
            <a:avLst/>
          </a:prstGeom>
          <a:solidFill>
            <a:srgbClr val="3E5D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13232" y="5824727"/>
            <a:ext cx="10874959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R1/R2/R4/R5 全部卡在“没有实测数据” —— 现场 30 分钟窗口即可补齐，之后 V2 只需填表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