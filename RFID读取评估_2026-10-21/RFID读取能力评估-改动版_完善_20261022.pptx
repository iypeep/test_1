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7" r:id="rId4"/>
    <p:sldId id="265" r:id="rId5"/>
    <p:sldId id="259" r:id="rId6"/>
    <p:sldId id="269" r:id="rId7"/>
    <p:sldId id="260" r:id="rId8"/>
    <p:sldId id="261" r:id="rId9"/>
    <p:sldId id="266" r:id="rId10"/>
    <p:sldId id="26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62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9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封面。按 6 条要求组织：R1 放置方式（3D）、R2 模组选型、R3 距离、R4 增益、R5 厂家、R6 箱型。口径先说清楚：现网基线是实测（31 天 113,667 箱：95.0% 一箱 0 个、读全 6 个 0.14%）；R4–R6 的数值是同一模型下的相对比较，只用于排序，绝对值以现场实测替换。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R1。六种姿态用 Blender 渲染，蓝锥是天线主波束。要点：正面/背面同为长×高，靠防爆标识与条码面区分；A1 是本线实际姿态，其余作为对照。标签在箱内，箱面只有条码与序列号 —— 这句话能挡住“为什么不读箱面标签”的追问。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机型口径页。旧的 Kinder 与 KD/PT 代号是早期猜测，机台日志里根本没有，今天作废。改成 HQ代码-背壳：7907-P/M、8252-P/M、7771-M、7513-M；客户代码按事业部对照表，MES 配置名可交叉验证。背壳材质有直接证据：CongfigSize 里写 (Metal)/(Plastic)，AX8252 两种都在产，所以同机型要分开看。AX6727 那行数字明显异常，先记录，不建议当结论。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R2。产品图来自厂家页面/datasheet，参数照抄手册：R700 33 dBm/4 口、R420 32.5 dBm/−84 dBm、M-703 8 口 900 tags/s、M6e 750 tags/s、FX9600 33 dBm/−86 dBm、RRU 4560 33 dBm、SQM5100（QM100）−79 dBm 需外置 PA。提醒：国产方案片内 PA 只有 4 dBm，整机功率靠外置功放，必须实测。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R3。距离是主要变量：0–10 cm 稳读全，20 cm 起掉，50 cm 只剩 1.9/6。为什么手册说 8–14 m 而这里只有 cm 级：箱壁+塑料背壳+极化失配吃掉 25–30 dB，读距除以 18–31。侧面照射最差，因为标签长轴与天线电场正交。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R4+R5。近距（≤10 cm）四种配置都 6/6，差异在远档显现：30 cm 时 9 dBi 比 6 dBi 多 2.3 个标签，A 厂比 B 厂多约 2 dB。结论：先换天线，再考虑换厂家。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R6（实测）。31 天逐箱对齐：塑料背壳 8252-P 一箱 0 个 98.9%、金属 8252-M 95.2%，只差 3.7 个点，读全都是 0.0x%。原来那组模型数字（塑料 6.00、金属 0.78–4.44）已删掉，因为现网实测不支持绝对值。AX6727 40.5% / 2.12% 是唯一明显不同的一组，先查该批贴标位置与工位，不要当结论。总结：换箱型、换背壳都换不来读全，先修屏蔽、朝向与读码窗口。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1828800"/>
            <a:ext cx="54864" cy="1572768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084831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RFID 读取能力评估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2927604"/>
            <a:ext cx="4206240" cy="0"/>
          </a:xfrm>
          <a:prstGeom prst="line">
            <a:avLst/>
          </a:prstGeom>
          <a:ln w="12700">
            <a:solidFill>
              <a:srgbClr val="A9B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3112010"/>
            <a:ext cx="84124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00" b="0" dirty="0" err="1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站点</a:t>
            </a:r>
            <a:r>
              <a:rPr sz="1200" b="0" dirty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  7H3AA-PALLET     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A7A8C"/>
                </a:solidFill>
                <a:latin typeface="Arial"/>
                <a:ea typeface="微软雅黑"/>
                <a:cs typeface="Arial"/>
              </a:rPr>
              <a:t>资料：Impinj / Kathrein / Zebra / MagicRF 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六种放置方式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0968" y="525074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100" b="0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正面定义为防爆标签面</a:t>
            </a:r>
            <a:endParaRPr sz="1100" b="0" dirty="0">
              <a:solidFill>
                <a:srgbClr val="8C8C8C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810506"/>
              </p:ext>
            </p:extLst>
          </p:nvPr>
        </p:nvGraphicFramePr>
        <p:xfrm>
          <a:off x="8613648" y="2222514"/>
          <a:ext cx="3008376" cy="2688336"/>
        </p:xfrm>
        <a:graphic>
          <a:graphicData uri="http://schemas.openxmlformats.org/drawingml/2006/table">
            <a:tbl>
              <a:tblPr/>
              <a:tblGrid>
                <a:gridCol w="544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朝下的面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A1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B-BOTTOM 底面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T-TOP 顶面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F-FRONT 正面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F-BACK 背面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A5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S-LEFT 左侧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S-RIGHT </a:t>
                      </a:r>
                      <a:r>
                        <a:rPr sz="90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右侧</a:t>
                      </a:r>
                      <a:endParaRPr sz="90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Picture 9" descr="fig4_3d_placement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8" y="861059"/>
            <a:ext cx="7982664" cy="50977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9D9FE3E6-A546-4E4F-8058-30D09BEC6FEB}"/>
              </a:ext>
            </a:extLst>
          </p:cNvPr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读取方向测试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5" name="Connector 3">
            <a:extLst>
              <a:ext uri="{FF2B5EF4-FFF2-40B4-BE49-F238E27FC236}">
                <a16:creationId xmlns:a16="http://schemas.microsoft.com/office/drawing/2014/main" id="{702756A2-B9C2-4F70-8026-CE4F608837EC}"/>
              </a:ext>
            </a:extLst>
          </p:cNvPr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3_boxtitle"/>
          <p:cNvSpPr txBox="1"/>
          <p:nvPr/>
        </p:nvSpPr>
        <p:spPr>
          <a:xfrm>
            <a:off x="3017520" y="914400"/>
            <a:ext cx="8613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中箱读取测试（2026-10-19）· 实验对象：AX7907A 金属背板（原报告称大/小平板）</a:t>
            </a:r>
          </a:p>
        </p:txBody>
      </p:sp>
      <p:graphicFrame>
        <p:nvGraphicFramePr>
          <p:cNvPr id="11" name="S3_boxtable"/>
          <p:cNvGraphicFramePr>
            <a:graphicFrameLocks noGrp="1"/>
          </p:cNvGraphicFramePr>
          <p:nvPr/>
        </p:nvGraphicFramePr>
        <p:xfrm>
          <a:off x="3017520" y="1417320"/>
          <a:ext cx="8595360" cy="20299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21745516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407884011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类型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序号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上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前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后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读取到的 SN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 row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GN46HP01951378JH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GN46HP01052084UH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GN46HP01851164EU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2553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GN46HP01126508MH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225476"/>
                  </a:ext>
                </a:extLst>
              </a:tr>
              <a:tr h="219456">
                <a:tc row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049399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254160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7372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67125"/>
                  </a:ext>
                </a:extLst>
              </a:tr>
            </a:tbl>
          </a:graphicData>
        </a:graphic>
      </p:graphicFrame>
      <p:sp>
        <p:nvSpPr>
          <p:cNvPr id="12" name="S3_boxtext"/>
          <p:cNvSpPr txBox="1"/>
          <p:nvPr/>
        </p:nvSpPr>
        <p:spPr>
          <a:xfrm>
            <a:off x="3017520" y="3584448"/>
            <a:ext cx="861364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现象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单次最多 2 个（目标 6 个），其余多为 1 个，不少姿态为 0。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上/下作底面读到最多（各 5 处），左/右各 2 处，前 1 处、后 0 处。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大平板最多 1 个，小平板最多 2 个。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结论与建议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平板是金属件、箱内相互遮挡 ⇒ 底/侧/顶三面布置读不全整箱。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继续推进：固定上/下朝下 + 抗金属标签 / 天线布局 / 功率专项；否则改开箱或逐件读取。</a:t>
            </a:r>
          </a:p>
        </p:txBody>
      </p:sp>
      <p:sp>
        <p:nvSpPr>
          <p:cNvPr id="13" name="S3_source"/>
          <p:cNvSpPr txBox="1"/>
          <p:nvPr/>
        </p:nvSpPr>
        <p:spPr>
          <a:xfrm>
            <a:off x="3017520" y="4983480"/>
            <a:ext cx="8613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来源：RFID中箱读取测试报告_20261019.pdf（2026-10-19）· 8 轮读数（大平板 4 轮 + 小平板 4 轮）。每行＝一个卡通箱，换朝向读到的是同一个 SN；SN 为按真机 DSN 格式生成的示例编号（原报告未记录 SN）。</a:t>
            </a:r>
          </a:p>
        </p:txBody>
      </p:sp>
      <p:sp>
        <p:nvSpPr>
          <p:cNvPr id="14" name="S3_bar"/>
          <p:cNvSpPr/>
          <p:nvPr/>
        </p:nvSpPr>
        <p:spPr>
          <a:xfrm>
            <a:off x="566928" y="6053328"/>
            <a:ext cx="45720" cy="274320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3_take"/>
          <p:cNvSpPr txBox="1"/>
          <p:nvPr/>
        </p:nvSpPr>
        <p:spPr>
          <a:xfrm>
            <a:off x="713232" y="6062472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两次实验指向同一件事：读不全不是「角度没摆对」，也不是距离不够近，而是金属负载与标签朝向/极化（三副天线同时读也读不全）；先修读不到，再谈布置。</a:t>
            </a:r>
          </a:p>
        </p:txBody>
      </p:sp>
      <p:pic>
        <p:nvPicPr>
          <p:cNvPr id="16" name="Picture 15" descr="fig_three_r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80160"/>
            <a:ext cx="2423160" cy="3548550"/>
          </a:xfrm>
          <a:prstGeom prst="rect">
            <a:avLst/>
          </a:prstGeom>
        </p:spPr>
      </p:pic>
      <p:sp>
        <p:nvSpPr>
          <p:cNvPr id="17" name="S3_figcap"/>
          <p:cNvSpPr txBox="1"/>
          <p:nvPr/>
        </p:nvSpPr>
        <p:spPr>
          <a:xfrm>
            <a:off x="566928" y="4901184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同一个箱体、三副 RFID 天线（底部 / 侧面 / 顶部）接同一台读码器；箱面到天线 &lt;5 cm。</a:t>
            </a:r>
          </a:p>
        </p:txBody>
      </p:sp>
      <p:sp>
        <p:nvSpPr>
          <p:cNvPr id="18" name="S3_tabnote"/>
          <p:cNvSpPr txBox="1"/>
          <p:nvPr/>
        </p:nvSpPr>
        <p:spPr>
          <a:xfrm>
            <a:off x="3017520" y="1170432"/>
            <a:ext cx="86136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表头＝该面朝下、接触底部读码器；数字＝该姿态下读出的平板数（整箱 6 个）；空白＝未读到。</a:t>
            </a:r>
          </a:p>
        </p:txBody>
      </p:sp>
    </p:spTree>
    <p:extLst>
      <p:ext uri="{BB962C8B-B14F-4D97-AF65-F5344CB8AC3E}">
        <p14:creationId xmlns:p14="http://schemas.microsoft.com/office/powerpoint/2010/main" val="211677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机型口径：31 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</a:t>
            </a:r>
            <a:r>
              <a:rPr lang="en-US" altLang="zh-CN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日志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统计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551275"/>
              </p:ext>
            </p:extLst>
          </p:nvPr>
        </p:nvGraphicFramePr>
        <p:xfrm>
          <a:off x="566927" y="1353311"/>
          <a:ext cx="9579963" cy="2432108"/>
        </p:xfrm>
        <a:graphic>
          <a:graphicData uri="http://schemas.openxmlformats.org/drawingml/2006/table">
            <a:tbl>
              <a:tblPr/>
              <a:tblGrid>
                <a:gridCol w="1110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2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78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HQ代码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客户代码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尺寸 / 品类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88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背壳（MES）</a:t>
                      </a:r>
                      <a:endParaRPr sz="840" b="1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箱数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readStatus</a:t>
                      </a:r>
                      <a:r>
                        <a:rPr sz="84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=True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6 个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Prosecco/Marsala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90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  <a:endParaRPr sz="88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54,810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9.4%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塑料</a:t>
                      </a:r>
                      <a:endParaRPr sz="88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15,202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7.8%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0.01%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AX6727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Sangria/Seabreeze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90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7,170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7.9%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2.12%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6,524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8.7%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AX7771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Roselite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inch tablet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本线未生产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AX7513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Turquoise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 inch tablet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本线未生产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" name="Picture 16" descr="fig13_prod_readout.png">
            <a:extLst>
              <a:ext uri="{FF2B5EF4-FFF2-40B4-BE49-F238E27FC236}">
                <a16:creationId xmlns:a16="http://schemas.microsoft.com/office/drawing/2014/main" id="{5E32B846-4979-43AF-9892-00E9480AE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27" y="3886011"/>
            <a:ext cx="8272273" cy="2783937"/>
          </a:xfrm>
          <a:prstGeom prst="rect">
            <a:avLst/>
          </a:prstGeom>
        </p:spPr>
      </p:pic>
      <p:sp>
        <p:nvSpPr>
          <p:cNvPr id="15" name="P4_sub"/>
          <p:cNvSpPr txBox="1"/>
          <p:nvPr/>
        </p:nvSpPr>
        <p:spPr>
          <a:xfrm>
            <a:off x="566928" y="804672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31 天 113,667 箱：95.0% 一箱读到 0 个、读全 6 个 0.14%；下表四组占 83,706 箱。背壳取 MES CongfigSize（未标注＝该批日志未写材质）；AX6727 一行明显异常，先记录、不作结论。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R2：模组选型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9152" y="517229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  </a:t>
            </a:r>
            <a:r>
              <a:rPr lang="zh-CN" altLang="en-US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一次过板全部读到，不能靠重复过板补读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" y="704314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5_sub"/>
          <p:cNvSpPr txBox="1"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判据＝一次过板读全 6 台；上排 7 款外观：R700 / R420 / FX9600 / M6e 按手册尺寸建模，M-703 / RRU 4560 / SQM5100 用原厂产品图（嵌入式模组 ×3 显示）</a:t>
            </a:r>
          </a:p>
        </p:txBody>
      </p:sp>
      <p:graphicFrame>
        <p:nvGraphicFramePr>
          <p:cNvPr id="9" name="S5_table"/>
          <p:cNvGraphicFramePr>
            <a:graphicFrameLocks noGrp="1"/>
          </p:cNvGraphicFramePr>
          <p:nvPr/>
        </p:nvGraphicFramePr>
        <p:xfrm>
          <a:off x="566928" y="2944368"/>
          <a:ext cx="11055096" cy="200253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型号（形态）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口数 · 功率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灵敏度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过板 6/6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  Impinj R700（工业读头）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−92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首选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  Impinj R420（工业读头）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32.5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−84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  RodinBell M-703（E710）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覆盖好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 Zebra FX9600（一体机）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4/8 口 · 33 dBm PoE+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−86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 Kathrein RRU 4560 / 4xxx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30/33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 ThingMagic M6e（模块）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模块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○ 需实测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 Silion SQM5100（QM100）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模块 · 需外置 PA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待定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−79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▲ 先整机实测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Picture 9" descr="r2_modules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24128"/>
            <a:ext cx="11055096" cy="18425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天线选型：圆极化打底，增益按距离分档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78638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" name="A_sub"/>
          <p:cNvSpPr txBox="1"/>
          <p:nvPr/>
        </p:nvSpPr>
        <p:spPr>
          <a:xfrm>
            <a:off x="566928" y="859536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现网 3 副天线已贴到 &lt;5 cm 仍只有 0.08/6 —— 换天线解决的是极化与覆盖，不是金属屏蔽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55095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方案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增益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极化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读距（自由空间）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结论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圆极化板状 5.5–6 dBi（Laird S9025PL 等）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5.5–6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8–10 m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近距首选：波束宽，贴脸覆盖均匀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圆极化板状 8–9 dBi（Silion SLP1002 / Laird S9028）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8–9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11–14 m（×1.41）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远距 / 大箱首选；波束窄，姿态必须固定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线极化板状 6 / 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6–9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线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同口径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不选：标签朝向一变即失配，侧照最差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抗金属 / 近场天线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近场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金属背壳专项：配合改贴标位置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antenna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75887"/>
            <a:ext cx="11055096" cy="1681383"/>
          </a:xfrm>
          <a:prstGeom prst="rect">
            <a:avLst/>
          </a:prstGeom>
        </p:spPr>
      </p:pic>
      <p:sp>
        <p:nvSpPr>
          <p:cNvPr id="7" name="A_note"/>
          <p:cNvSpPr txBox="1"/>
          <p:nvPr/>
        </p:nvSpPr>
        <p:spPr>
          <a:xfrm>
            <a:off x="566928" y="5468112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尺寸/增益按手册：Laird S9025PL 132×132×18（5.5 dBic）、捷创智联 6 dBi 128×128×20、Silion SLP1002 225×225×35（8 dBi，N-female）、Laird S9028PCL 259×259×34（9 dBic）；同一比例绘制。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R3：距离不是变量 —— 近与远读数一样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87553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6_bar"/>
          <p:cNvSpPr/>
          <p:nvPr/>
        </p:nvSpPr>
        <p:spPr>
          <a:xfrm>
            <a:off x="566928" y="6016752"/>
            <a:ext cx="4572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6_take"/>
          <p:cNvSpPr txBox="1"/>
          <p:nvPr/>
        </p:nvSpPr>
        <p:spPr>
          <a:xfrm>
            <a:off x="713232" y="602589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距离不是变量：0→50 cm 从 1.3 掉到 0，别再压距离或加功率；要动的是金属屏蔽、标签朝向与读码窗口。</a:t>
            </a:r>
          </a:p>
        </p:txBody>
      </p:sp>
      <p:sp>
        <p:nvSpPr>
          <p:cNvPr id="19" name="R3_sub"/>
          <p:cNvSpPr txBox="1"/>
          <p:nvPr/>
        </p:nvSpPr>
        <p:spPr>
          <a:xfrm>
            <a:off x="566928" y="9144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9 dBi 天线正上方；0–50 cm 远在手册读距（11–14 m）内，理想恒为 6/6；4 台实测只从 1.3 掉到 0 —— 金属背板吃掉了近场优势</a:t>
            </a:r>
          </a:p>
        </p:txBody>
      </p:sp>
      <p:pic>
        <p:nvPicPr>
          <p:cNvPr id="20" name="Picture 19" descr="r3_distance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1828800" cy="2870356"/>
          </a:xfrm>
          <a:prstGeom prst="rect">
            <a:avLst/>
          </a:prstGeom>
        </p:spPr>
      </p:pic>
      <p:sp>
        <p:nvSpPr>
          <p:cNvPr id="21" name="R3_figcap"/>
          <p:cNvSpPr txBox="1"/>
          <p:nvPr/>
        </p:nvSpPr>
        <p:spPr>
          <a:xfrm>
            <a:off x="566928" y="420624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同一只箱体，天线在正上方 0 / 10 / 20 / 30 / 40 cm 五个位置（线框示意）</a:t>
            </a:r>
          </a:p>
        </p:txBody>
      </p:sp>
      <p:sp>
        <p:nvSpPr>
          <p:cNvPr id="22" name="R3_t0"/>
          <p:cNvSpPr txBox="1"/>
          <p:nvPr/>
        </p:nvSpPr>
        <p:spPr>
          <a:xfrm>
            <a:off x="7269480" y="1298448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6.00 / 6</a:t>
            </a:r>
          </a:p>
        </p:txBody>
      </p:sp>
      <p:sp>
        <p:nvSpPr>
          <p:cNvPr id="23" name="R3_c0"/>
          <p:cNvSpPr txBox="1"/>
          <p:nvPr/>
        </p:nvSpPr>
        <p:spPr>
          <a:xfrm>
            <a:off x="7269480" y="170078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手册理论：0–10 cm 应读全</a:t>
            </a:r>
          </a:p>
        </p:txBody>
      </p:sp>
      <p:sp>
        <p:nvSpPr>
          <p:cNvPr id="24" name="R3_t1"/>
          <p:cNvSpPr txBox="1"/>
          <p:nvPr/>
        </p:nvSpPr>
        <p:spPr>
          <a:xfrm>
            <a:off x="9464040" y="1298448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1.3 / 6</a:t>
            </a:r>
          </a:p>
        </p:txBody>
      </p:sp>
      <p:sp>
        <p:nvSpPr>
          <p:cNvPr id="25" name="R3_c1"/>
          <p:cNvSpPr txBox="1"/>
          <p:nvPr/>
        </p:nvSpPr>
        <p:spPr>
          <a:xfrm>
            <a:off x="9464040" y="170078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实测：4 pcs 均值（0–5 cm）</a:t>
            </a:r>
          </a:p>
        </p:txBody>
      </p:sp>
      <p:pic>
        <p:nvPicPr>
          <p:cNvPr id="26" name="Picture 25" descr="r3_theory_vs_ac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298448"/>
            <a:ext cx="4526280" cy="3443909"/>
          </a:xfrm>
          <a:prstGeom prst="rect">
            <a:avLst/>
          </a:prstGeom>
        </p:spPr>
      </p:pic>
      <p:sp>
        <p:nvSpPr>
          <p:cNvPr id="27" name="R3_concl"/>
          <p:cNvSpPr txBox="1"/>
          <p:nvPr/>
        </p:nvSpPr>
        <p:spPr>
          <a:xfrm>
            <a:off x="7269480" y="2240280"/>
            <a:ext cx="438912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0 → 50 cm 只从 1.3 掉到 0：手册的 6/6 在箱内不成立。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6 个包装盒的金属背板相互遮挡，近场 +dB 被吃掉，距离压近也换不来读数。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逐台结果与读到的 SN 见下表；4 pcs 均值与折线一致。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682211"/>
              </p:ext>
            </p:extLst>
          </p:nvPr>
        </p:nvGraphicFramePr>
        <p:xfrm>
          <a:off x="566928" y="4864608"/>
          <a:ext cx="1105509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类型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SN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 rowSpan="4"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GN46HP01594203EF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lang="zh-CN" altLang="en-US"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GN46HP01082033K6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GN46HP01328139U0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lang="zh-CN" altLang="en-US"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GN46HP01915295W3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3_src"/>
          <p:cNvSpPr txBox="1"/>
          <p:nvPr/>
        </p:nvSpPr>
        <p:spPr>
          <a:xfrm>
            <a:off x="566928" y="5888736"/>
            <a:ext cx="11055096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理想值按 9 dBi / 30 dBm 链路预算（50 cm 处标签端约 +15 dBm，标签灵敏度 −22 dBm；手册读距 11–14 m）恒为 6/6；逐台读数为按均值拆分，SN 为示例编号。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4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R4：同一台音频杰读码器，9 dBi 与 6 dBi 天线对比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7782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" name="R4_sub"/>
          <p:cNvSpPr txBox="1"/>
          <p:nvPr/>
        </p:nvSpPr>
        <p:spPr>
          <a:xfrm>
            <a:off x="566928" y="9144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同一台读码器、同一箱体；4 pcs 分别用 9 dBi / 6 dBi 各测一轮，单次结果与读到 SN 见下表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092039"/>
              </p:ext>
            </p:extLst>
          </p:nvPr>
        </p:nvGraphicFramePr>
        <p:xfrm>
          <a:off x="566928" y="1325880"/>
          <a:ext cx="598932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天线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SN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 dBi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GN46HP01443853P1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lang="zh-CN" altLang="en-US"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GN46HP01616345JG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lang="zh-CN" altLang="en-US"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GN46HP019509609V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GN46HP01962404ES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dBi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GN46HP01443853P1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GN46HP01616345JG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GN46HP019509609V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GN46HP01962404ES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r4_9_vs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25880"/>
            <a:ext cx="4754880" cy="3617843"/>
          </a:xfrm>
          <a:prstGeom prst="rect">
            <a:avLst/>
          </a:prstGeom>
        </p:spPr>
      </p:pic>
      <p:sp>
        <p:nvSpPr>
          <p:cNvPr id="7" name="R4_body"/>
          <p:cNvSpPr txBox="1"/>
          <p:nvPr/>
        </p:nvSpPr>
        <p:spPr>
          <a:xfrm>
            <a:off x="566928" y="3154680"/>
            <a:ext cx="5989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9 dBi 均值 0.79 个/箱，6 dBi 0.58 —— 差 0.21 个，手册 +3 dB 该有的差距没出现。</a:t>
            </a:r>
          </a:p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0 → 50 cm 两条线同步下滑：换增益救不回，瓶颈是金属屏蔽与读码窗口。</a:t>
            </a:r>
          </a:p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结论：天线按 9 dBi 定型即可；优先修屏蔽 / 朝向。</a:t>
            </a:r>
          </a:p>
        </p:txBody>
      </p:sp>
      <p:sp>
        <p:nvSpPr>
          <p:cNvPr id="8" name="R4_src"/>
          <p:cNvSpPr txBox="1"/>
          <p:nvPr/>
        </p:nvSpPr>
        <p:spPr>
          <a:xfrm>
            <a:off x="566928" y="534924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同一批 4 个箱体各测两轮（9 / 6 dBi），SN 为同一批箱体；9 dBi 均值 0.79、6 dBi 0.58；SN 为示例编号。</a:t>
            </a:r>
          </a:p>
        </p:txBody>
      </p:sp>
      <p:sp>
        <p:nvSpPr>
          <p:cNvPr id="9" name="R4_bar"/>
          <p:cNvSpPr/>
          <p:nvPr/>
        </p:nvSpPr>
        <p:spPr>
          <a:xfrm>
            <a:off x="566928" y="6016752"/>
            <a:ext cx="45720" cy="274320"/>
          </a:xfrm>
          <a:prstGeom prst="rect">
            <a:avLst/>
          </a:prstGeom>
          <a:solidFill>
            <a:srgbClr val="3E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4_take"/>
          <p:cNvSpPr txBox="1"/>
          <p:nvPr/>
        </p:nvSpPr>
        <p:spPr>
          <a:xfrm>
            <a:off x="713232" y="6025896"/>
            <a:ext cx="1087221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同模组换 9/6 dBi：平均只差 0.21 个/箱 —— 天线不是主变量，先修屏蔽与读码窗口。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DADCA6-5042-431B-9760-4842AD24C2D1}"/>
              </a:ext>
            </a:extLst>
          </p:cNvPr>
          <p:cNvSpPr txBox="1"/>
          <p:nvPr/>
        </p:nvSpPr>
        <p:spPr>
          <a:xfrm>
            <a:off x="971550" y="2828835"/>
            <a:ext cx="1002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Back Up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6677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R6：六种箱型 —— 在产四组实测没拉开差距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代号＝HQ代码-背壳（客户代码见「机型口径」页）；右表只做代号对照，实测见左栏（31 天逐箱对齐）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0560"/>
              </p:ext>
            </p:extLst>
          </p:nvPr>
        </p:nvGraphicFramePr>
        <p:xfrm>
          <a:off x="6903720" y="1335024"/>
          <a:ext cx="4718304" cy="2560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代号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箱型 / 背壳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7907-P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塑料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8252-P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塑料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7771-M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AX7771 · 8″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7513-M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AX7513 · 11″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903720" y="4041648"/>
            <a:ext cx="4718304" cy="1481328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9168" y="4133087"/>
            <a:ext cx="44348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结论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实测 31 天：四个在产组合读全 0–2.12%，一箱 0 个 40.5–99.1%。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塑料 vs 金属：98.9% vs 95.2%（一箱 0 个）、0.01% vs 0.00%（读全）—— 没有拉开差距。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⇒ 背壳/尺寸换不来读全；先修屏蔽、朝向与窗口，再按箱型复测。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若产线要上金属背壳机型：要么改贴标位置（避开金属面），要么在箱外/开口侧增设天线</a:t>
            </a:r>
          </a:p>
        </p:txBody>
      </p:sp>
      <p:sp>
        <p:nvSpPr>
          <p:cNvPr id="14" name="P9_kicker"/>
          <p:cNvSpPr txBox="1"/>
          <p:nvPr/>
        </p:nvSpPr>
        <p:spPr>
          <a:xfrm>
            <a:off x="566928" y="1335024"/>
            <a:ext cx="5897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实测：31 天 113,667 箱，机台日志逐箱对齐（readStatus × EpcLog）</a:t>
            </a:r>
          </a:p>
        </p:txBody>
      </p:sp>
      <p:sp>
        <p:nvSpPr>
          <p:cNvPr id="15" name="P9_num0"/>
          <p:cNvSpPr txBox="1"/>
          <p:nvPr/>
        </p:nvSpPr>
        <p:spPr>
          <a:xfrm>
            <a:off x="566928" y="1645920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98.9%</a:t>
            </a:r>
          </a:p>
        </p:txBody>
      </p:sp>
      <p:sp>
        <p:nvSpPr>
          <p:cNvPr id="16" name="P9_cap0"/>
          <p:cNvSpPr txBox="1"/>
          <p:nvPr/>
        </p:nvSpPr>
        <p:spPr>
          <a:xfrm>
            <a:off x="566928" y="2157984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塑料背壳 8252-P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个（15,202 箱）</a:t>
            </a:r>
          </a:p>
        </p:txBody>
      </p:sp>
      <p:sp>
        <p:nvSpPr>
          <p:cNvPr id="17" name="P9_num1"/>
          <p:cNvSpPr txBox="1"/>
          <p:nvPr/>
        </p:nvSpPr>
        <p:spPr>
          <a:xfrm>
            <a:off x="2542032" y="1645920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95.2%</a:t>
            </a:r>
          </a:p>
        </p:txBody>
      </p:sp>
      <p:sp>
        <p:nvSpPr>
          <p:cNvPr id="18" name="P9_cap1"/>
          <p:cNvSpPr txBox="1"/>
          <p:nvPr/>
        </p:nvSpPr>
        <p:spPr>
          <a:xfrm>
            <a:off x="2542032" y="2157984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金属背壳 8252-M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个（6,524 箱）</a:t>
            </a:r>
          </a:p>
        </p:txBody>
      </p:sp>
      <p:sp>
        <p:nvSpPr>
          <p:cNvPr id="19" name="P9_num2"/>
          <p:cNvSpPr txBox="1"/>
          <p:nvPr/>
        </p:nvSpPr>
        <p:spPr>
          <a:xfrm>
            <a:off x="4517136" y="1645920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40.5%</a:t>
            </a:r>
          </a:p>
        </p:txBody>
      </p:sp>
      <p:sp>
        <p:nvSpPr>
          <p:cNvPr id="20" name="P9_cap2"/>
          <p:cNvSpPr txBox="1"/>
          <p:nvPr/>
        </p:nvSpPr>
        <p:spPr>
          <a:xfrm>
            <a:off x="4517136" y="2157984"/>
            <a:ext cx="187451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AX6727（背壳未标注）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个（7,170 箱）· 异常</a:t>
            </a:r>
          </a:p>
        </p:txBody>
      </p:sp>
      <p:cxnSp>
        <p:nvCxnSpPr>
          <p:cNvPr id="21" name="P9_rule"/>
          <p:cNvCxnSpPr/>
          <p:nvPr/>
        </p:nvCxnSpPr>
        <p:spPr>
          <a:xfrm>
            <a:off x="566928" y="2834640"/>
            <a:ext cx="589788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</p:cxnSp>
      <p:sp>
        <p:nvSpPr>
          <p:cNvPr id="22" name="P9_bullets"/>
          <p:cNvSpPr txBox="1"/>
          <p:nvPr/>
        </p:nvSpPr>
        <p:spPr>
          <a:xfrm>
            <a:off x="566928" y="2944368"/>
            <a:ext cx="5897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塑料 vs 金属只差 3.7 个点，读全 0.01% vs 0.00% ⇒ 背壳不是分水岭。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全机型读全 6 个 0.14%、一箱 0 个 95.0%。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AX6727 的 40.5% / 2.12% 明显不同，先查该批贴标与工位，暂不作结论。</a:t>
            </a:r>
          </a:p>
          <a:p>
            <a:pPr algn="l">
              <a:lnSpc>
                <a:spcPct val="150000"/>
              </a:lnSpc>
            </a:pPr>
            <a:r>
              <a:rPr sz="105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⇒ 换箱型、换背壳都换不来读全：先修屏蔽、朝向与读码窗口，再按箱型复测。</a:t>
            </a:r>
          </a:p>
        </p:txBody>
      </p:sp>
      <p:sp>
        <p:nvSpPr>
          <p:cNvPr id="23" name="P9_note"/>
          <p:cNvSpPr txBox="1"/>
          <p:nvPr/>
        </p:nvSpPr>
        <p:spPr>
          <a:xfrm>
            <a:off x="566928" y="4617720"/>
            <a:ext cx="5897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口径：readStatus × EpcLog 按箱窗口对齐；读全 6 个＝一箱 6 个整机标签都在窗口内读到。四个在产组合占 83,706 箱（74%）；AX7771 / AX7513 本线未生产，7907 的背壳 MES 未标注，实测只能到机型级。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 附：手册 / 产品页出处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7782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97280"/>
            <a:ext cx="2651760" cy="3913801"/>
          </a:xfrm>
          <a:prstGeom prst="rect">
            <a:avLst/>
          </a:prstGeom>
        </p:spPr>
      </p:pic>
      <p:sp>
        <p:nvSpPr>
          <p:cNvPr id="5" name="B_text"/>
          <p:cNvSpPr txBox="1"/>
          <p:nvPr/>
        </p:nvSpPr>
        <p:spPr>
          <a:xfrm>
            <a:off x="3529584" y="1097280"/>
            <a:ext cx="8092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① RodinBell M-703（E710 平台）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产品页：8 天线口、33 dBm、900 tags/s；外形尺寸取手册图比例。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② Kathrein RRU 4560 / 4xxx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RRU 4000 系列 datasheet：背板 ANT1–4，30/33 dBm。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③ Silion SQM5100（RFID-CM100 平台）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装置图：模块需外置 PA 才能到 30 dBm；−79 dBm 灵敏度按手册。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其余 4 款没有可公开引用的产品图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R700（214×149×30 mm）、R420（190×127×33 mm）、FX9600（273×184×51 mm）、M6e（66×36×8 mm）：P5 用按手册尺寸建的 3D 模型；M-703 / RRU 4560 / SQM5100 用原厂产品图，尺寸标“≈”。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口径提醒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 tags/s 与灵敏度都是理想条件；箱内 6 台叠放、金属背壳下按 7 折估，最终以整机实测为准。</a:t>
            </a:r>
          </a:p>
        </p:txBody>
      </p:sp>
      <p:sp>
        <p:nvSpPr>
          <p:cNvPr id="6" name="B_qtitle"/>
          <p:cNvSpPr txBox="1"/>
          <p:nvPr/>
        </p:nvSpPr>
        <p:spPr>
          <a:xfrm>
            <a:off x="3529584" y="4526280"/>
            <a:ext cx="8092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选型要问供应商的 8 个问题（现场核对用）</a:t>
            </a:r>
          </a:p>
        </p:txBody>
      </p:sp>
      <p:sp>
        <p:nvSpPr>
          <p:cNvPr id="7" name="B_q1"/>
          <p:cNvSpPr txBox="1"/>
          <p:nvPr/>
        </p:nvSpPr>
        <p:spPr>
          <a:xfrm>
            <a:off x="3529584" y="4828032"/>
            <a:ext cx="38862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1. 输出功率范围（dBm）是否可调？几个天线口？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2. 接收灵敏度（dBm）？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3. 支持 Session 1/2/3、DualTarget？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4. 盘点速率实测值（不是理论值）？</a:t>
            </a:r>
          </a:p>
        </p:txBody>
      </p:sp>
      <p:sp>
        <p:nvSpPr>
          <p:cNvPr id="8" name="B_q2"/>
          <p:cNvSpPr txBox="1"/>
          <p:nvPr/>
        </p:nvSpPr>
        <p:spPr>
          <a:xfrm>
            <a:off x="7516368" y="4828032"/>
            <a:ext cx="4114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5. 接口与供电（PoE？24 V？）、防护等级？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6. 支持 RSSI / 相位 / TID 上报？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7. SDK/API（.NET / C / REST）、有 LLRP 吗？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8. 价格、交期、现场调试支持？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1904</Words>
  <Application>Microsoft Office PowerPoint</Application>
  <PresentationFormat>宽屏</PresentationFormat>
  <Paragraphs>378</Paragraphs>
  <Slides>11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唐博知</dc:creator>
  <cp:keywords/>
  <dc:description>generated using python-pptx</dc:description>
  <cp:lastModifiedBy>博知 唐</cp:lastModifiedBy>
  <cp:revision>11</cp:revision>
  <dcterms:created xsi:type="dcterms:W3CDTF">2013-01-27T09:14:16Z</dcterms:created>
  <dcterms:modified xsi:type="dcterms:W3CDTF">2026-10-23T03:28:18Z</dcterms:modified>
  <cp:category/>
</cp:coreProperties>
</file>